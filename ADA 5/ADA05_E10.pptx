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Glacial Indifference Bold" charset="1" panose="00000800000000000000"/>
      <p:regular r:id="rId18"/>
    </p:embeddedFont>
    <p:embeddedFont>
      <p:font typeface="Tenor Sans" charset="1" panose="02000000000000000000"/>
      <p:regular r:id="rId19"/>
    </p:embeddedFont>
    <p:embeddedFont>
      <p:font typeface="Glacial Indifference" charset="1" panose="000000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25670" y="3666165"/>
            <a:ext cx="17836661" cy="2004410"/>
          </a:xfrm>
          <a:prstGeom prst="rect">
            <a:avLst/>
          </a:prstGeom>
        </p:spPr>
        <p:txBody>
          <a:bodyPr anchor="t" rtlCol="false" tIns="0" lIns="0" bIns="0" rIns="0">
            <a:spAutoFit/>
          </a:bodyPr>
          <a:lstStyle/>
          <a:p>
            <a:pPr algn="ctr">
              <a:lnSpc>
                <a:spcPts val="14646"/>
              </a:lnSpc>
            </a:pPr>
            <a:r>
              <a:rPr lang="en-US" b="true" sz="15920" spc="-509">
                <a:solidFill>
                  <a:srgbClr val="022033"/>
                </a:solidFill>
                <a:latin typeface="Glacial Indifference Bold"/>
                <a:ea typeface="Glacial Indifference Bold"/>
                <a:cs typeface="Glacial Indifference Bold"/>
                <a:sym typeface="Glacial Indifference Bold"/>
              </a:rPr>
              <a:t>TOURNAMENT SORT</a:t>
            </a:r>
          </a:p>
        </p:txBody>
      </p:sp>
      <p:grpSp>
        <p:nvGrpSpPr>
          <p:cNvPr name="Group 3" id="3"/>
          <p:cNvGrpSpPr/>
          <p:nvPr/>
        </p:nvGrpSpPr>
        <p:grpSpPr>
          <a:xfrm rot="0">
            <a:off x="-609474" y="6630732"/>
            <a:ext cx="4378481" cy="437848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8AB9"/>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5400000">
            <a:off x="362774" y="-30820"/>
            <a:ext cx="3688357" cy="4114800"/>
          </a:xfrm>
          <a:custGeom>
            <a:avLst/>
            <a:gdLst/>
            <a:ahLst/>
            <a:cxnLst/>
            <a:rect r="r" b="b" t="t" l="l"/>
            <a:pathLst>
              <a:path h="4114800" w="3688357">
                <a:moveTo>
                  <a:pt x="0" y="0"/>
                </a:moveTo>
                <a:lnTo>
                  <a:pt x="3688357" y="0"/>
                </a:lnTo>
                <a:lnTo>
                  <a:pt x="368835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2531874" y="7031606"/>
            <a:ext cx="1237134" cy="1200949"/>
            <a:chOff x="0" y="0"/>
            <a:chExt cx="325830" cy="316299"/>
          </a:xfrm>
        </p:grpSpPr>
        <p:sp>
          <p:nvSpPr>
            <p:cNvPr name="Freeform 8" id="8"/>
            <p:cNvSpPr/>
            <p:nvPr/>
          </p:nvSpPr>
          <p:spPr>
            <a:xfrm flipH="false" flipV="false" rot="0">
              <a:off x="0" y="0"/>
              <a:ext cx="325830" cy="316299"/>
            </a:xfrm>
            <a:custGeom>
              <a:avLst/>
              <a:gdLst/>
              <a:ahLst/>
              <a:cxnLst/>
              <a:rect r="r" b="b" t="t" l="l"/>
              <a:pathLst>
                <a:path h="316299" w="325830">
                  <a:moveTo>
                    <a:pt x="158150" y="0"/>
                  </a:moveTo>
                  <a:lnTo>
                    <a:pt x="167680" y="0"/>
                  </a:lnTo>
                  <a:cubicBezTo>
                    <a:pt x="255024" y="0"/>
                    <a:pt x="325830" y="70806"/>
                    <a:pt x="325830" y="158150"/>
                  </a:cubicBezTo>
                  <a:lnTo>
                    <a:pt x="325830" y="158150"/>
                  </a:lnTo>
                  <a:cubicBezTo>
                    <a:pt x="325830" y="245493"/>
                    <a:pt x="255024" y="316299"/>
                    <a:pt x="167680" y="316299"/>
                  </a:cubicBezTo>
                  <a:lnTo>
                    <a:pt x="158150" y="316299"/>
                  </a:lnTo>
                  <a:cubicBezTo>
                    <a:pt x="70806" y="316299"/>
                    <a:pt x="0" y="245493"/>
                    <a:pt x="0" y="158150"/>
                  </a:cubicBezTo>
                  <a:lnTo>
                    <a:pt x="0" y="158150"/>
                  </a:lnTo>
                  <a:cubicBezTo>
                    <a:pt x="0" y="70806"/>
                    <a:pt x="70806" y="0"/>
                    <a:pt x="158150" y="0"/>
                  </a:cubicBezTo>
                  <a:close/>
                </a:path>
              </a:pathLst>
            </a:custGeom>
            <a:solidFill>
              <a:srgbClr val="BFD1E1"/>
            </a:solidFill>
          </p:spPr>
        </p:sp>
        <p:sp>
          <p:nvSpPr>
            <p:cNvPr name="TextBox 9" id="9"/>
            <p:cNvSpPr txBox="true"/>
            <p:nvPr/>
          </p:nvSpPr>
          <p:spPr>
            <a:xfrm>
              <a:off x="0" y="-47625"/>
              <a:ext cx="325830" cy="363924"/>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5728559" y="1153041"/>
            <a:ext cx="1237134" cy="1200949"/>
            <a:chOff x="0" y="0"/>
            <a:chExt cx="325830" cy="316299"/>
          </a:xfrm>
        </p:grpSpPr>
        <p:sp>
          <p:nvSpPr>
            <p:cNvPr name="Freeform 11" id="11"/>
            <p:cNvSpPr/>
            <p:nvPr/>
          </p:nvSpPr>
          <p:spPr>
            <a:xfrm flipH="false" flipV="false" rot="0">
              <a:off x="0" y="0"/>
              <a:ext cx="325830" cy="316299"/>
            </a:xfrm>
            <a:custGeom>
              <a:avLst/>
              <a:gdLst/>
              <a:ahLst/>
              <a:cxnLst/>
              <a:rect r="r" b="b" t="t" l="l"/>
              <a:pathLst>
                <a:path h="316299" w="325830">
                  <a:moveTo>
                    <a:pt x="158150" y="0"/>
                  </a:moveTo>
                  <a:lnTo>
                    <a:pt x="167680" y="0"/>
                  </a:lnTo>
                  <a:cubicBezTo>
                    <a:pt x="255024" y="0"/>
                    <a:pt x="325830" y="70806"/>
                    <a:pt x="325830" y="158150"/>
                  </a:cubicBezTo>
                  <a:lnTo>
                    <a:pt x="325830" y="158150"/>
                  </a:lnTo>
                  <a:cubicBezTo>
                    <a:pt x="325830" y="245493"/>
                    <a:pt x="255024" y="316299"/>
                    <a:pt x="167680" y="316299"/>
                  </a:cubicBezTo>
                  <a:lnTo>
                    <a:pt x="158150" y="316299"/>
                  </a:lnTo>
                  <a:cubicBezTo>
                    <a:pt x="70806" y="316299"/>
                    <a:pt x="0" y="245493"/>
                    <a:pt x="0" y="158150"/>
                  </a:cubicBezTo>
                  <a:lnTo>
                    <a:pt x="0" y="158150"/>
                  </a:lnTo>
                  <a:cubicBezTo>
                    <a:pt x="0" y="70806"/>
                    <a:pt x="70806" y="0"/>
                    <a:pt x="158150" y="0"/>
                  </a:cubicBezTo>
                  <a:close/>
                </a:path>
              </a:pathLst>
            </a:custGeom>
            <a:solidFill>
              <a:srgbClr val="568AB9"/>
            </a:solidFill>
          </p:spPr>
        </p:sp>
        <p:sp>
          <p:nvSpPr>
            <p:cNvPr name="TextBox 12" id="12"/>
            <p:cNvSpPr txBox="true"/>
            <p:nvPr/>
          </p:nvSpPr>
          <p:spPr>
            <a:xfrm>
              <a:off x="0" y="-47625"/>
              <a:ext cx="325830" cy="363924"/>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4289726" y="6393076"/>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6395591" y="6169509"/>
            <a:ext cx="5496818" cy="3088791"/>
          </a:xfrm>
          <a:prstGeom prst="rect">
            <a:avLst/>
          </a:prstGeom>
        </p:spPr>
        <p:txBody>
          <a:bodyPr anchor="t" rtlCol="false" tIns="0" lIns="0" bIns="0" rIns="0">
            <a:spAutoFit/>
          </a:bodyPr>
          <a:lstStyle/>
          <a:p>
            <a:pPr algn="ctr">
              <a:lnSpc>
                <a:spcPts val="6198"/>
              </a:lnSpc>
            </a:pPr>
            <a:r>
              <a:rPr lang="en-US" sz="4245" spc="437">
                <a:solidFill>
                  <a:srgbClr val="022033"/>
                </a:solidFill>
                <a:latin typeface="Tenor Sans"/>
                <a:ea typeface="Tenor Sans"/>
                <a:cs typeface="Tenor Sans"/>
                <a:sym typeface="Tenor Sans"/>
              </a:rPr>
              <a:t>POR </a:t>
            </a:r>
          </a:p>
          <a:p>
            <a:pPr algn="ctr">
              <a:lnSpc>
                <a:spcPts val="6198"/>
              </a:lnSpc>
            </a:pPr>
            <a:r>
              <a:rPr lang="en-US" sz="4245" spc="437">
                <a:solidFill>
                  <a:srgbClr val="022033"/>
                </a:solidFill>
                <a:latin typeface="Tenor Sans"/>
                <a:ea typeface="Tenor Sans"/>
                <a:cs typeface="Tenor Sans"/>
                <a:sym typeface="Tenor Sans"/>
              </a:rPr>
              <a:t>JOANA TEP </a:t>
            </a:r>
          </a:p>
          <a:p>
            <a:pPr algn="ctr">
              <a:lnSpc>
                <a:spcPts val="6198"/>
              </a:lnSpc>
            </a:pPr>
            <a:r>
              <a:rPr lang="en-US" sz="4245" spc="437">
                <a:solidFill>
                  <a:srgbClr val="022033"/>
                </a:solidFill>
                <a:latin typeface="Tenor Sans"/>
                <a:ea typeface="Tenor Sans"/>
                <a:cs typeface="Tenor Sans"/>
                <a:sym typeface="Tenor Sans"/>
              </a:rPr>
              <a:t>Y</a:t>
            </a:r>
          </a:p>
          <a:p>
            <a:pPr algn="ctr">
              <a:lnSpc>
                <a:spcPts val="6198"/>
              </a:lnSpc>
            </a:pPr>
            <a:r>
              <a:rPr lang="en-US" sz="4245" spc="437">
                <a:solidFill>
                  <a:srgbClr val="022033"/>
                </a:solidFill>
                <a:latin typeface="Tenor Sans"/>
                <a:ea typeface="Tenor Sans"/>
                <a:cs typeface="Tenor Sans"/>
                <a:sym typeface="Tenor Sans"/>
              </a:rPr>
              <a:t>MARCOS VELOZ </a:t>
            </a:r>
          </a:p>
        </p:txBody>
      </p:sp>
      <p:grpSp>
        <p:nvGrpSpPr>
          <p:cNvPr name="Group 15" id="15"/>
          <p:cNvGrpSpPr/>
          <p:nvPr/>
        </p:nvGrpSpPr>
        <p:grpSpPr>
          <a:xfrm rot="0">
            <a:off x="13804199" y="8450476"/>
            <a:ext cx="971055" cy="934870"/>
            <a:chOff x="0" y="0"/>
            <a:chExt cx="255751" cy="246221"/>
          </a:xfrm>
        </p:grpSpPr>
        <p:sp>
          <p:nvSpPr>
            <p:cNvPr name="Freeform 16" id="16"/>
            <p:cNvSpPr/>
            <p:nvPr/>
          </p:nvSpPr>
          <p:spPr>
            <a:xfrm flipH="false" flipV="false" rot="0">
              <a:off x="0" y="0"/>
              <a:ext cx="255751" cy="246221"/>
            </a:xfrm>
            <a:custGeom>
              <a:avLst/>
              <a:gdLst/>
              <a:ahLst/>
              <a:cxnLst/>
              <a:rect r="r" b="b" t="t" l="l"/>
              <a:pathLst>
                <a:path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96B5D3"/>
            </a:solidFill>
          </p:spPr>
        </p:sp>
        <p:sp>
          <p:nvSpPr>
            <p:cNvPr name="TextBox 17" id="17"/>
            <p:cNvSpPr txBox="true"/>
            <p:nvPr/>
          </p:nvSpPr>
          <p:spPr>
            <a:xfrm>
              <a:off x="0" y="-47625"/>
              <a:ext cx="255751" cy="293846"/>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134706" y="5284201"/>
            <a:ext cx="4372659" cy="4878220"/>
          </a:xfrm>
          <a:custGeom>
            <a:avLst/>
            <a:gdLst/>
            <a:ahLst/>
            <a:cxnLst/>
            <a:rect r="r" b="b" t="t" l="l"/>
            <a:pathLst>
              <a:path h="4878220" w="4372659">
                <a:moveTo>
                  <a:pt x="0" y="0"/>
                </a:moveTo>
                <a:lnTo>
                  <a:pt x="4372659" y="0"/>
                </a:lnTo>
                <a:lnTo>
                  <a:pt x="4372659" y="4878220"/>
                </a:lnTo>
                <a:lnTo>
                  <a:pt x="0" y="48782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711560" y="1285875"/>
            <a:ext cx="14864881" cy="1221538"/>
          </a:xfrm>
          <a:prstGeom prst="rect">
            <a:avLst/>
          </a:prstGeom>
        </p:spPr>
        <p:txBody>
          <a:bodyPr anchor="t" rtlCol="false" tIns="0" lIns="0" bIns="0" rIns="0">
            <a:spAutoFit/>
          </a:bodyPr>
          <a:lstStyle/>
          <a:p>
            <a:pPr algn="ctr">
              <a:lnSpc>
                <a:spcPts val="8931"/>
              </a:lnSpc>
            </a:pPr>
            <a:r>
              <a:rPr lang="en-US" sz="9708">
                <a:solidFill>
                  <a:srgbClr val="022033"/>
                </a:solidFill>
                <a:latin typeface="Glacial Indifference"/>
                <a:ea typeface="Glacial Indifference"/>
                <a:cs typeface="Glacial Indifference"/>
                <a:sym typeface="Glacial Indifference"/>
              </a:rPr>
              <a:t>TOURNAMENT SORT </a:t>
            </a:r>
          </a:p>
        </p:txBody>
      </p:sp>
      <p:grpSp>
        <p:nvGrpSpPr>
          <p:cNvPr name="Group 4" id="4"/>
          <p:cNvGrpSpPr/>
          <p:nvPr/>
        </p:nvGrpSpPr>
        <p:grpSpPr>
          <a:xfrm rot="0">
            <a:off x="5486400" y="2978032"/>
            <a:ext cx="7315200" cy="824623"/>
            <a:chOff x="0" y="0"/>
            <a:chExt cx="9753600" cy="1099497"/>
          </a:xfrm>
        </p:grpSpPr>
        <p:sp>
          <p:nvSpPr>
            <p:cNvPr name="Freeform 5" id="5"/>
            <p:cNvSpPr/>
            <p:nvPr/>
          </p:nvSpPr>
          <p:spPr>
            <a:xfrm flipH="false" flipV="false" rot="0">
              <a:off x="0" y="0"/>
              <a:ext cx="9753600" cy="1099497"/>
            </a:xfrm>
            <a:custGeom>
              <a:avLst/>
              <a:gdLst/>
              <a:ahLst/>
              <a:cxnLst/>
              <a:rect r="r" b="b" t="t" l="l"/>
              <a:pathLst>
                <a:path h="1099497" w="9753600">
                  <a:moveTo>
                    <a:pt x="0" y="0"/>
                  </a:moveTo>
                  <a:lnTo>
                    <a:pt x="9753600" y="0"/>
                  </a:lnTo>
                  <a:lnTo>
                    <a:pt x="9753600" y="1099497"/>
                  </a:lnTo>
                  <a:lnTo>
                    <a:pt x="0" y="10994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454516" y="123068"/>
              <a:ext cx="8844568" cy="910512"/>
            </a:xfrm>
            <a:prstGeom prst="rect">
              <a:avLst/>
            </a:prstGeom>
          </p:spPr>
          <p:txBody>
            <a:bodyPr anchor="t" rtlCol="false" tIns="0" lIns="0" bIns="0" rIns="0">
              <a:spAutoFit/>
            </a:bodyPr>
            <a:lstStyle/>
            <a:p>
              <a:pPr algn="ctr">
                <a:lnSpc>
                  <a:spcPts val="2512"/>
                </a:lnSpc>
              </a:pPr>
              <a:r>
                <a:rPr lang="en-US" sz="2730" spc="152">
                  <a:solidFill>
                    <a:srgbClr val="022033"/>
                  </a:solidFill>
                  <a:latin typeface="Tenor Sans"/>
                  <a:ea typeface="Tenor Sans"/>
                  <a:cs typeface="Tenor Sans"/>
                  <a:sym typeface="Tenor Sans"/>
                </a:rPr>
                <a:t>ORDENAMIENTO CON ARBOLES (WINNER TREE/LOSER TREE)</a:t>
              </a:r>
            </a:p>
          </p:txBody>
        </p:sp>
      </p:grpSp>
      <p:grpSp>
        <p:nvGrpSpPr>
          <p:cNvPr name="Group 7" id="7"/>
          <p:cNvGrpSpPr/>
          <p:nvPr/>
        </p:nvGrpSpPr>
        <p:grpSpPr>
          <a:xfrm rot="0">
            <a:off x="4167318" y="6259800"/>
            <a:ext cx="9953364" cy="3370838"/>
            <a:chOff x="0" y="0"/>
            <a:chExt cx="13271152" cy="4494451"/>
          </a:xfrm>
        </p:grpSpPr>
        <p:sp>
          <p:nvSpPr>
            <p:cNvPr name="Freeform 8" id="8"/>
            <p:cNvSpPr/>
            <p:nvPr/>
          </p:nvSpPr>
          <p:spPr>
            <a:xfrm flipH="false" flipV="false" rot="0">
              <a:off x="0" y="1653380"/>
              <a:ext cx="13271152" cy="1496021"/>
            </a:xfrm>
            <a:custGeom>
              <a:avLst/>
              <a:gdLst/>
              <a:ahLst/>
              <a:cxnLst/>
              <a:rect r="r" b="b" t="t" l="l"/>
              <a:pathLst>
                <a:path h="1496021" w="13271152">
                  <a:moveTo>
                    <a:pt x="0" y="0"/>
                  </a:moveTo>
                  <a:lnTo>
                    <a:pt x="13271152" y="0"/>
                  </a:lnTo>
                  <a:lnTo>
                    <a:pt x="13271152" y="1496021"/>
                  </a:lnTo>
                  <a:lnTo>
                    <a:pt x="0" y="14960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0" y="0"/>
              <a:ext cx="13271152" cy="1496021"/>
            </a:xfrm>
            <a:custGeom>
              <a:avLst/>
              <a:gdLst/>
              <a:ahLst/>
              <a:cxnLst/>
              <a:rect r="r" b="b" t="t" l="l"/>
              <a:pathLst>
                <a:path h="1496021" w="13271152">
                  <a:moveTo>
                    <a:pt x="0" y="0"/>
                  </a:moveTo>
                  <a:lnTo>
                    <a:pt x="13271152" y="0"/>
                  </a:lnTo>
                  <a:lnTo>
                    <a:pt x="13271152" y="1496021"/>
                  </a:lnTo>
                  <a:lnTo>
                    <a:pt x="0" y="14960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0" y="2998430"/>
              <a:ext cx="13271152" cy="1496021"/>
            </a:xfrm>
            <a:custGeom>
              <a:avLst/>
              <a:gdLst/>
              <a:ahLst/>
              <a:cxnLst/>
              <a:rect r="r" b="b" t="t" l="l"/>
              <a:pathLst>
                <a:path h="1496021" w="13271152">
                  <a:moveTo>
                    <a:pt x="0" y="0"/>
                  </a:moveTo>
                  <a:lnTo>
                    <a:pt x="13271152" y="0"/>
                  </a:lnTo>
                  <a:lnTo>
                    <a:pt x="13271152" y="1496021"/>
                  </a:lnTo>
                  <a:lnTo>
                    <a:pt x="0" y="14960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0" y="905370"/>
              <a:ext cx="13271152" cy="1496021"/>
            </a:xfrm>
            <a:custGeom>
              <a:avLst/>
              <a:gdLst/>
              <a:ahLst/>
              <a:cxnLst/>
              <a:rect r="r" b="b" t="t" l="l"/>
              <a:pathLst>
                <a:path h="1496021" w="13271152">
                  <a:moveTo>
                    <a:pt x="0" y="0"/>
                  </a:moveTo>
                  <a:lnTo>
                    <a:pt x="13271152" y="0"/>
                  </a:lnTo>
                  <a:lnTo>
                    <a:pt x="13271152" y="1496021"/>
                  </a:lnTo>
                  <a:lnTo>
                    <a:pt x="0" y="14960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400754" y="57150"/>
              <a:ext cx="12469644" cy="4437301"/>
            </a:xfrm>
            <a:prstGeom prst="rect">
              <a:avLst/>
            </a:prstGeom>
          </p:spPr>
          <p:txBody>
            <a:bodyPr anchor="t" rtlCol="false" tIns="0" lIns="0" bIns="0" rIns="0">
              <a:spAutoFit/>
            </a:bodyPr>
            <a:lstStyle/>
            <a:p>
              <a:pPr algn="ctr">
                <a:lnSpc>
                  <a:spcPts val="2378"/>
                </a:lnSpc>
              </a:pPr>
              <a:r>
                <a:rPr lang="en-US" sz="2585" spc="144">
                  <a:solidFill>
                    <a:srgbClr val="022033"/>
                  </a:solidFill>
                  <a:latin typeface="Tenor Sans"/>
                  <a:ea typeface="Tenor Sans"/>
                  <a:cs typeface="Tenor Sans"/>
                  <a:sym typeface="Tenor Sans"/>
                </a:rPr>
                <a:t>LA IDEA PRINCIPAL ES CONSTRUIR UN ÁRBOL DE COMPETENCIA (WINNER TREE) DONDE LAS HOJAS SON LOS ELEMENTOS. EN CADA 'PARTIDO' SE COMPARAN PARES PARA PROPAGAR EL MÍNIMO (O MÁXIMO) HACIA LA RAÍZ. SE EXTRAE EL GANADOR (MÍNIMO) Y SE REEMPLAZA POR UN VALOR 'SENTINELA' O SIGUIENTE ELEMENTO, REAJUSTANDO EL ÁRBOL EN O(LOG N). Y SE REPITE HASTA AGOTAR ELEMENTOS PARA OBTENER LA SECUENCIA ORDENADA.</a:t>
              </a:r>
            </a:p>
          </p:txBody>
        </p:sp>
      </p:grpSp>
      <p:grpSp>
        <p:nvGrpSpPr>
          <p:cNvPr name="Group 13" id="13"/>
          <p:cNvGrpSpPr/>
          <p:nvPr/>
        </p:nvGrpSpPr>
        <p:grpSpPr>
          <a:xfrm rot="0">
            <a:off x="5451307" y="4018869"/>
            <a:ext cx="7385387" cy="2021856"/>
            <a:chOff x="0" y="0"/>
            <a:chExt cx="9847183" cy="2695808"/>
          </a:xfrm>
        </p:grpSpPr>
        <p:sp>
          <p:nvSpPr>
            <p:cNvPr name="Freeform 14" id="14"/>
            <p:cNvSpPr/>
            <p:nvPr/>
          </p:nvSpPr>
          <p:spPr>
            <a:xfrm flipH="false" flipV="false" rot="0">
              <a:off x="93583" y="1583327"/>
              <a:ext cx="9753600" cy="1099497"/>
            </a:xfrm>
            <a:custGeom>
              <a:avLst/>
              <a:gdLst/>
              <a:ahLst/>
              <a:cxnLst/>
              <a:rect r="r" b="b" t="t" l="l"/>
              <a:pathLst>
                <a:path h="1099497" w="9753600">
                  <a:moveTo>
                    <a:pt x="0" y="0"/>
                  </a:moveTo>
                  <a:lnTo>
                    <a:pt x="9753600" y="0"/>
                  </a:lnTo>
                  <a:lnTo>
                    <a:pt x="9753600" y="1099497"/>
                  </a:lnTo>
                  <a:lnTo>
                    <a:pt x="0" y="10994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93583" y="0"/>
              <a:ext cx="9753600" cy="1099497"/>
            </a:xfrm>
            <a:custGeom>
              <a:avLst/>
              <a:gdLst/>
              <a:ahLst/>
              <a:cxnLst/>
              <a:rect r="r" b="b" t="t" l="l"/>
              <a:pathLst>
                <a:path h="1099497" w="9753600">
                  <a:moveTo>
                    <a:pt x="0" y="0"/>
                  </a:moveTo>
                  <a:lnTo>
                    <a:pt x="9753600" y="0"/>
                  </a:lnTo>
                  <a:lnTo>
                    <a:pt x="9753600" y="1099497"/>
                  </a:lnTo>
                  <a:lnTo>
                    <a:pt x="0" y="10994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93583" y="809273"/>
              <a:ext cx="9753600" cy="1099497"/>
            </a:xfrm>
            <a:custGeom>
              <a:avLst/>
              <a:gdLst/>
              <a:ahLst/>
              <a:cxnLst/>
              <a:rect r="r" b="b" t="t" l="l"/>
              <a:pathLst>
                <a:path h="1099497" w="9753600">
                  <a:moveTo>
                    <a:pt x="0" y="0"/>
                  </a:moveTo>
                  <a:lnTo>
                    <a:pt x="9753600" y="0"/>
                  </a:lnTo>
                  <a:lnTo>
                    <a:pt x="9753600" y="1099497"/>
                  </a:lnTo>
                  <a:lnTo>
                    <a:pt x="0" y="10994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0" y="108897"/>
              <a:ext cx="9620800" cy="2586912"/>
            </a:xfrm>
            <a:prstGeom prst="rect">
              <a:avLst/>
            </a:prstGeom>
          </p:spPr>
          <p:txBody>
            <a:bodyPr anchor="t" rtlCol="false" tIns="0" lIns="0" bIns="0" rIns="0">
              <a:spAutoFit/>
            </a:bodyPr>
            <a:lstStyle/>
            <a:p>
              <a:pPr algn="ctr">
                <a:lnSpc>
                  <a:spcPts val="2512"/>
                </a:lnSpc>
              </a:pPr>
              <a:r>
                <a:rPr lang="en-US" sz="2730" spc="152">
                  <a:solidFill>
                    <a:srgbClr val="022033"/>
                  </a:solidFill>
                  <a:latin typeface="Tenor Sans"/>
                  <a:ea typeface="Tenor Sans"/>
                  <a:cs typeface="Tenor Sans"/>
                  <a:sym typeface="Tenor Sans"/>
                </a:rPr>
                <a:t>ES UN TIPO DE PROGRAMACIÓN INSPIRADO EN TORNEOS DEPORTIVOS POPULARIZADO EN ESTRUCTURAS DE SELECCIÓN POR ÁRBOLES PARA PROBLEMAS DE SELECCIÓN Y MEZCLA EXTERNA.</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134706" y="6304355"/>
            <a:ext cx="3458231" cy="3858067"/>
          </a:xfrm>
          <a:custGeom>
            <a:avLst/>
            <a:gdLst/>
            <a:ahLst/>
            <a:cxnLst/>
            <a:rect r="r" b="b" t="t" l="l"/>
            <a:pathLst>
              <a:path h="3858067" w="3458231">
                <a:moveTo>
                  <a:pt x="0" y="0"/>
                </a:moveTo>
                <a:lnTo>
                  <a:pt x="3458231" y="0"/>
                </a:lnTo>
                <a:lnTo>
                  <a:pt x="3458231" y="3858066"/>
                </a:lnTo>
                <a:lnTo>
                  <a:pt x="0" y="38580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711560" y="807601"/>
            <a:ext cx="14864881" cy="1951356"/>
          </a:xfrm>
          <a:prstGeom prst="rect">
            <a:avLst/>
          </a:prstGeom>
        </p:spPr>
        <p:txBody>
          <a:bodyPr anchor="t" rtlCol="false" tIns="0" lIns="0" bIns="0" rIns="0">
            <a:spAutoFit/>
          </a:bodyPr>
          <a:lstStyle/>
          <a:p>
            <a:pPr algn="ctr">
              <a:lnSpc>
                <a:spcPts val="7360"/>
              </a:lnSpc>
            </a:pPr>
            <a:r>
              <a:rPr lang="en-US" sz="8000">
                <a:solidFill>
                  <a:srgbClr val="022033"/>
                </a:solidFill>
                <a:latin typeface="Glacial Indifference"/>
                <a:ea typeface="Glacial Indifference"/>
                <a:cs typeface="Glacial Indifference"/>
                <a:sym typeface="Glacial Indifference"/>
              </a:rPr>
              <a:t>FUNCIONAMIENTO: ESTRUCTURA DEL ÁRBOL</a:t>
            </a:r>
          </a:p>
        </p:txBody>
      </p:sp>
      <p:grpSp>
        <p:nvGrpSpPr>
          <p:cNvPr name="Group 4" id="4"/>
          <p:cNvGrpSpPr/>
          <p:nvPr/>
        </p:nvGrpSpPr>
        <p:grpSpPr>
          <a:xfrm rot="0">
            <a:off x="1711560" y="2758957"/>
            <a:ext cx="6102806" cy="2953945"/>
            <a:chOff x="0" y="0"/>
            <a:chExt cx="1232414" cy="596526"/>
          </a:xfrm>
        </p:grpSpPr>
        <p:sp>
          <p:nvSpPr>
            <p:cNvPr name="Freeform 5" id="5"/>
            <p:cNvSpPr/>
            <p:nvPr/>
          </p:nvSpPr>
          <p:spPr>
            <a:xfrm flipH="false" flipV="false" rot="0">
              <a:off x="0" y="0"/>
              <a:ext cx="1232414" cy="596526"/>
            </a:xfrm>
            <a:custGeom>
              <a:avLst/>
              <a:gdLst/>
              <a:ahLst/>
              <a:cxnLst/>
              <a:rect r="r" b="b" t="t" l="l"/>
              <a:pathLst>
                <a:path h="596526" w="1232414">
                  <a:moveTo>
                    <a:pt x="44400" y="0"/>
                  </a:moveTo>
                  <a:lnTo>
                    <a:pt x="1188014" y="0"/>
                  </a:lnTo>
                  <a:cubicBezTo>
                    <a:pt x="1199789" y="0"/>
                    <a:pt x="1211083" y="4678"/>
                    <a:pt x="1219409" y="13005"/>
                  </a:cubicBezTo>
                  <a:cubicBezTo>
                    <a:pt x="1227736" y="21331"/>
                    <a:pt x="1232414" y="32625"/>
                    <a:pt x="1232414" y="44400"/>
                  </a:cubicBezTo>
                  <a:lnTo>
                    <a:pt x="1232414" y="552126"/>
                  </a:lnTo>
                  <a:cubicBezTo>
                    <a:pt x="1232414" y="563902"/>
                    <a:pt x="1227736" y="575195"/>
                    <a:pt x="1219409" y="583522"/>
                  </a:cubicBezTo>
                  <a:cubicBezTo>
                    <a:pt x="1211083" y="591848"/>
                    <a:pt x="1199789" y="596526"/>
                    <a:pt x="1188014" y="596526"/>
                  </a:cubicBezTo>
                  <a:lnTo>
                    <a:pt x="44400" y="596526"/>
                  </a:lnTo>
                  <a:cubicBezTo>
                    <a:pt x="32625" y="596526"/>
                    <a:pt x="21331" y="591848"/>
                    <a:pt x="13005" y="583522"/>
                  </a:cubicBezTo>
                  <a:cubicBezTo>
                    <a:pt x="4678" y="575195"/>
                    <a:pt x="0" y="563902"/>
                    <a:pt x="0" y="552126"/>
                  </a:cubicBezTo>
                  <a:lnTo>
                    <a:pt x="0" y="44400"/>
                  </a:lnTo>
                  <a:cubicBezTo>
                    <a:pt x="0" y="32625"/>
                    <a:pt x="4678" y="21331"/>
                    <a:pt x="13005" y="13005"/>
                  </a:cubicBezTo>
                  <a:cubicBezTo>
                    <a:pt x="21331" y="4678"/>
                    <a:pt x="32625" y="0"/>
                    <a:pt x="44400" y="0"/>
                  </a:cubicBezTo>
                  <a:close/>
                </a:path>
              </a:pathLst>
            </a:custGeom>
            <a:solidFill>
              <a:srgbClr val="96B5D3"/>
            </a:solidFill>
          </p:spPr>
        </p:sp>
        <p:sp>
          <p:nvSpPr>
            <p:cNvPr name="TextBox 6" id="6"/>
            <p:cNvSpPr txBox="true"/>
            <p:nvPr/>
          </p:nvSpPr>
          <p:spPr>
            <a:xfrm>
              <a:off x="0" y="-38100"/>
              <a:ext cx="1232414" cy="634626"/>
            </a:xfrm>
            <a:prstGeom prst="rect">
              <a:avLst/>
            </a:prstGeom>
          </p:spPr>
          <p:txBody>
            <a:bodyPr anchor="ctr" rtlCol="false" tIns="66254" lIns="66254" bIns="66254" rIns="66254"/>
            <a:lstStyle/>
            <a:p>
              <a:pPr algn="ctr">
                <a:lnSpc>
                  <a:spcPts val="2660"/>
                </a:lnSpc>
                <a:spcBef>
                  <a:spcPct val="0"/>
                </a:spcBef>
              </a:pPr>
            </a:p>
          </p:txBody>
        </p:sp>
      </p:grpSp>
      <p:grpSp>
        <p:nvGrpSpPr>
          <p:cNvPr name="Group 7" id="7"/>
          <p:cNvGrpSpPr/>
          <p:nvPr/>
        </p:nvGrpSpPr>
        <p:grpSpPr>
          <a:xfrm rot="0">
            <a:off x="11156494" y="6304355"/>
            <a:ext cx="6102806" cy="2953945"/>
            <a:chOff x="0" y="0"/>
            <a:chExt cx="1232414" cy="596526"/>
          </a:xfrm>
        </p:grpSpPr>
        <p:sp>
          <p:nvSpPr>
            <p:cNvPr name="Freeform 8" id="8"/>
            <p:cNvSpPr/>
            <p:nvPr/>
          </p:nvSpPr>
          <p:spPr>
            <a:xfrm flipH="false" flipV="false" rot="0">
              <a:off x="0" y="0"/>
              <a:ext cx="1232414" cy="596526"/>
            </a:xfrm>
            <a:custGeom>
              <a:avLst/>
              <a:gdLst/>
              <a:ahLst/>
              <a:cxnLst/>
              <a:rect r="r" b="b" t="t" l="l"/>
              <a:pathLst>
                <a:path h="596526" w="1232414">
                  <a:moveTo>
                    <a:pt x="44400" y="0"/>
                  </a:moveTo>
                  <a:lnTo>
                    <a:pt x="1188014" y="0"/>
                  </a:lnTo>
                  <a:cubicBezTo>
                    <a:pt x="1199789" y="0"/>
                    <a:pt x="1211083" y="4678"/>
                    <a:pt x="1219409" y="13005"/>
                  </a:cubicBezTo>
                  <a:cubicBezTo>
                    <a:pt x="1227736" y="21331"/>
                    <a:pt x="1232414" y="32625"/>
                    <a:pt x="1232414" y="44400"/>
                  </a:cubicBezTo>
                  <a:lnTo>
                    <a:pt x="1232414" y="552126"/>
                  </a:lnTo>
                  <a:cubicBezTo>
                    <a:pt x="1232414" y="563902"/>
                    <a:pt x="1227736" y="575195"/>
                    <a:pt x="1219409" y="583522"/>
                  </a:cubicBezTo>
                  <a:cubicBezTo>
                    <a:pt x="1211083" y="591848"/>
                    <a:pt x="1199789" y="596526"/>
                    <a:pt x="1188014" y="596526"/>
                  </a:cubicBezTo>
                  <a:lnTo>
                    <a:pt x="44400" y="596526"/>
                  </a:lnTo>
                  <a:cubicBezTo>
                    <a:pt x="32625" y="596526"/>
                    <a:pt x="21331" y="591848"/>
                    <a:pt x="13005" y="583522"/>
                  </a:cubicBezTo>
                  <a:cubicBezTo>
                    <a:pt x="4678" y="575195"/>
                    <a:pt x="0" y="563902"/>
                    <a:pt x="0" y="552126"/>
                  </a:cubicBezTo>
                  <a:lnTo>
                    <a:pt x="0" y="44400"/>
                  </a:lnTo>
                  <a:cubicBezTo>
                    <a:pt x="0" y="32625"/>
                    <a:pt x="4678" y="21331"/>
                    <a:pt x="13005" y="13005"/>
                  </a:cubicBezTo>
                  <a:cubicBezTo>
                    <a:pt x="21331" y="4678"/>
                    <a:pt x="32625" y="0"/>
                    <a:pt x="44400" y="0"/>
                  </a:cubicBezTo>
                  <a:close/>
                </a:path>
              </a:pathLst>
            </a:custGeom>
            <a:solidFill>
              <a:srgbClr val="F3E780"/>
            </a:solidFill>
          </p:spPr>
        </p:sp>
        <p:sp>
          <p:nvSpPr>
            <p:cNvPr name="TextBox 9" id="9"/>
            <p:cNvSpPr txBox="true"/>
            <p:nvPr/>
          </p:nvSpPr>
          <p:spPr>
            <a:xfrm>
              <a:off x="0" y="-38100"/>
              <a:ext cx="1232414" cy="634626"/>
            </a:xfrm>
            <a:prstGeom prst="rect">
              <a:avLst/>
            </a:prstGeom>
          </p:spPr>
          <p:txBody>
            <a:bodyPr anchor="ctr" rtlCol="false" tIns="66254" lIns="66254" bIns="66254" rIns="66254"/>
            <a:lstStyle/>
            <a:p>
              <a:pPr algn="ctr">
                <a:lnSpc>
                  <a:spcPts val="2660"/>
                </a:lnSpc>
                <a:spcBef>
                  <a:spcPct val="0"/>
                </a:spcBef>
              </a:pPr>
            </a:p>
          </p:txBody>
        </p:sp>
      </p:grpSp>
      <p:grpSp>
        <p:nvGrpSpPr>
          <p:cNvPr name="Group 10" id="10"/>
          <p:cNvGrpSpPr/>
          <p:nvPr/>
        </p:nvGrpSpPr>
        <p:grpSpPr>
          <a:xfrm rot="0">
            <a:off x="11156494" y="2758957"/>
            <a:ext cx="6102806" cy="2953945"/>
            <a:chOff x="0" y="0"/>
            <a:chExt cx="1232414" cy="596526"/>
          </a:xfrm>
        </p:grpSpPr>
        <p:sp>
          <p:nvSpPr>
            <p:cNvPr name="Freeform 11" id="11"/>
            <p:cNvSpPr/>
            <p:nvPr/>
          </p:nvSpPr>
          <p:spPr>
            <a:xfrm flipH="false" flipV="false" rot="0">
              <a:off x="0" y="0"/>
              <a:ext cx="1232414" cy="596526"/>
            </a:xfrm>
            <a:custGeom>
              <a:avLst/>
              <a:gdLst/>
              <a:ahLst/>
              <a:cxnLst/>
              <a:rect r="r" b="b" t="t" l="l"/>
              <a:pathLst>
                <a:path h="596526" w="1232414">
                  <a:moveTo>
                    <a:pt x="44400" y="0"/>
                  </a:moveTo>
                  <a:lnTo>
                    <a:pt x="1188014" y="0"/>
                  </a:lnTo>
                  <a:cubicBezTo>
                    <a:pt x="1199789" y="0"/>
                    <a:pt x="1211083" y="4678"/>
                    <a:pt x="1219409" y="13005"/>
                  </a:cubicBezTo>
                  <a:cubicBezTo>
                    <a:pt x="1227736" y="21331"/>
                    <a:pt x="1232414" y="32625"/>
                    <a:pt x="1232414" y="44400"/>
                  </a:cubicBezTo>
                  <a:lnTo>
                    <a:pt x="1232414" y="552126"/>
                  </a:lnTo>
                  <a:cubicBezTo>
                    <a:pt x="1232414" y="563902"/>
                    <a:pt x="1227736" y="575195"/>
                    <a:pt x="1219409" y="583522"/>
                  </a:cubicBezTo>
                  <a:cubicBezTo>
                    <a:pt x="1211083" y="591848"/>
                    <a:pt x="1199789" y="596526"/>
                    <a:pt x="1188014" y="596526"/>
                  </a:cubicBezTo>
                  <a:lnTo>
                    <a:pt x="44400" y="596526"/>
                  </a:lnTo>
                  <a:cubicBezTo>
                    <a:pt x="32625" y="596526"/>
                    <a:pt x="21331" y="591848"/>
                    <a:pt x="13005" y="583522"/>
                  </a:cubicBezTo>
                  <a:cubicBezTo>
                    <a:pt x="4678" y="575195"/>
                    <a:pt x="0" y="563902"/>
                    <a:pt x="0" y="552126"/>
                  </a:cubicBezTo>
                  <a:lnTo>
                    <a:pt x="0" y="44400"/>
                  </a:lnTo>
                  <a:cubicBezTo>
                    <a:pt x="0" y="32625"/>
                    <a:pt x="4678" y="21331"/>
                    <a:pt x="13005" y="13005"/>
                  </a:cubicBezTo>
                  <a:cubicBezTo>
                    <a:pt x="21331" y="4678"/>
                    <a:pt x="32625" y="0"/>
                    <a:pt x="44400" y="0"/>
                  </a:cubicBezTo>
                  <a:close/>
                </a:path>
              </a:pathLst>
            </a:custGeom>
            <a:solidFill>
              <a:srgbClr val="BFD1E1"/>
            </a:solidFill>
          </p:spPr>
        </p:sp>
        <p:sp>
          <p:nvSpPr>
            <p:cNvPr name="TextBox 12" id="12"/>
            <p:cNvSpPr txBox="true"/>
            <p:nvPr/>
          </p:nvSpPr>
          <p:spPr>
            <a:xfrm>
              <a:off x="0" y="-38100"/>
              <a:ext cx="1232414" cy="634626"/>
            </a:xfrm>
            <a:prstGeom prst="rect">
              <a:avLst/>
            </a:prstGeom>
          </p:spPr>
          <p:txBody>
            <a:bodyPr anchor="ctr" rtlCol="false" tIns="66254" lIns="66254" bIns="66254" rIns="66254"/>
            <a:lstStyle/>
            <a:p>
              <a:pPr algn="ctr">
                <a:lnSpc>
                  <a:spcPts val="2660"/>
                </a:lnSpc>
                <a:spcBef>
                  <a:spcPct val="0"/>
                </a:spcBef>
              </a:pPr>
            </a:p>
          </p:txBody>
        </p:sp>
      </p:grpSp>
      <p:grpSp>
        <p:nvGrpSpPr>
          <p:cNvPr name="Group 13" id="13"/>
          <p:cNvGrpSpPr/>
          <p:nvPr/>
        </p:nvGrpSpPr>
        <p:grpSpPr>
          <a:xfrm rot="0">
            <a:off x="2677075" y="6503137"/>
            <a:ext cx="5137290" cy="2556380"/>
            <a:chOff x="0" y="0"/>
            <a:chExt cx="1037436" cy="516241"/>
          </a:xfrm>
        </p:grpSpPr>
        <p:sp>
          <p:nvSpPr>
            <p:cNvPr name="Freeform 14" id="14"/>
            <p:cNvSpPr/>
            <p:nvPr/>
          </p:nvSpPr>
          <p:spPr>
            <a:xfrm flipH="false" flipV="false" rot="0">
              <a:off x="0" y="0"/>
              <a:ext cx="1037436" cy="516241"/>
            </a:xfrm>
            <a:custGeom>
              <a:avLst/>
              <a:gdLst/>
              <a:ahLst/>
              <a:cxnLst/>
              <a:rect r="r" b="b" t="t" l="l"/>
              <a:pathLst>
                <a:path h="516241" w="1037436">
                  <a:moveTo>
                    <a:pt x="52745" y="0"/>
                  </a:moveTo>
                  <a:lnTo>
                    <a:pt x="984691" y="0"/>
                  </a:lnTo>
                  <a:cubicBezTo>
                    <a:pt x="1013821" y="0"/>
                    <a:pt x="1037436" y="23615"/>
                    <a:pt x="1037436" y="52745"/>
                  </a:cubicBezTo>
                  <a:lnTo>
                    <a:pt x="1037436" y="463496"/>
                  </a:lnTo>
                  <a:cubicBezTo>
                    <a:pt x="1037436" y="477485"/>
                    <a:pt x="1031879" y="490901"/>
                    <a:pt x="1021987" y="500792"/>
                  </a:cubicBezTo>
                  <a:cubicBezTo>
                    <a:pt x="1012095" y="510684"/>
                    <a:pt x="998680" y="516241"/>
                    <a:pt x="984691" y="516241"/>
                  </a:cubicBezTo>
                  <a:lnTo>
                    <a:pt x="52745" y="516241"/>
                  </a:lnTo>
                  <a:cubicBezTo>
                    <a:pt x="23615" y="516241"/>
                    <a:pt x="0" y="492626"/>
                    <a:pt x="0" y="463496"/>
                  </a:cubicBezTo>
                  <a:lnTo>
                    <a:pt x="0" y="52745"/>
                  </a:lnTo>
                  <a:cubicBezTo>
                    <a:pt x="0" y="38756"/>
                    <a:pt x="5557" y="25340"/>
                    <a:pt x="15449" y="15449"/>
                  </a:cubicBezTo>
                  <a:cubicBezTo>
                    <a:pt x="25340" y="5557"/>
                    <a:pt x="38756" y="0"/>
                    <a:pt x="52745" y="0"/>
                  </a:cubicBezTo>
                  <a:close/>
                </a:path>
              </a:pathLst>
            </a:custGeom>
            <a:solidFill>
              <a:srgbClr val="568AB9"/>
            </a:solidFill>
          </p:spPr>
        </p:sp>
        <p:sp>
          <p:nvSpPr>
            <p:cNvPr name="TextBox 15" id="15"/>
            <p:cNvSpPr txBox="true"/>
            <p:nvPr/>
          </p:nvSpPr>
          <p:spPr>
            <a:xfrm>
              <a:off x="0" y="-38100"/>
              <a:ext cx="1037436" cy="554341"/>
            </a:xfrm>
            <a:prstGeom prst="rect">
              <a:avLst/>
            </a:prstGeom>
          </p:spPr>
          <p:txBody>
            <a:bodyPr anchor="ctr" rtlCol="false" tIns="66254" lIns="66254" bIns="66254" rIns="66254"/>
            <a:lstStyle/>
            <a:p>
              <a:pPr algn="ctr">
                <a:lnSpc>
                  <a:spcPts val="2660"/>
                </a:lnSpc>
                <a:spcBef>
                  <a:spcPct val="0"/>
                </a:spcBef>
              </a:pPr>
            </a:p>
          </p:txBody>
        </p:sp>
      </p:grpSp>
      <p:sp>
        <p:nvSpPr>
          <p:cNvPr name="TextBox 16" id="16"/>
          <p:cNvSpPr txBox="true"/>
          <p:nvPr/>
        </p:nvSpPr>
        <p:spPr>
          <a:xfrm rot="0">
            <a:off x="1855665" y="2947131"/>
            <a:ext cx="5814595" cy="2498090"/>
          </a:xfrm>
          <a:prstGeom prst="rect">
            <a:avLst/>
          </a:prstGeom>
        </p:spPr>
        <p:txBody>
          <a:bodyPr anchor="t" rtlCol="false" tIns="0" lIns="0" bIns="0" rIns="0">
            <a:spAutoFit/>
          </a:bodyPr>
          <a:lstStyle/>
          <a:p>
            <a:pPr algn="ctr">
              <a:lnSpc>
                <a:spcPts val="4199"/>
              </a:lnSpc>
            </a:pPr>
            <a:r>
              <a:rPr lang="en-US" sz="2999">
                <a:solidFill>
                  <a:srgbClr val="022033"/>
                </a:solidFill>
                <a:latin typeface="Tenor Sans"/>
                <a:ea typeface="Tenor Sans"/>
                <a:cs typeface="Tenor Sans"/>
                <a:sym typeface="Tenor Sans"/>
              </a:rPr>
              <a:t>Hojas</a:t>
            </a:r>
          </a:p>
          <a:p>
            <a:pPr algn="ctr">
              <a:lnSpc>
                <a:spcPts val="3919"/>
              </a:lnSpc>
              <a:spcBef>
                <a:spcPct val="0"/>
              </a:spcBef>
            </a:pPr>
            <a:r>
              <a:rPr lang="en-US" sz="2799">
                <a:solidFill>
                  <a:srgbClr val="022033"/>
                </a:solidFill>
                <a:latin typeface="Tenor Sans"/>
                <a:ea typeface="Tenor Sans"/>
                <a:cs typeface="Tenor Sans"/>
                <a:sym typeface="Tenor Sans"/>
              </a:rPr>
              <a:t>Elementos de la entrada (si hay número impar, se puede añadir un “bye” o manejar un nivel incompleto).</a:t>
            </a:r>
          </a:p>
        </p:txBody>
      </p:sp>
      <p:sp>
        <p:nvSpPr>
          <p:cNvPr name="TextBox 17" id="17"/>
          <p:cNvSpPr txBox="true"/>
          <p:nvPr/>
        </p:nvSpPr>
        <p:spPr>
          <a:xfrm rot="0">
            <a:off x="11300599" y="3201197"/>
            <a:ext cx="5814595" cy="2002790"/>
          </a:xfrm>
          <a:prstGeom prst="rect">
            <a:avLst/>
          </a:prstGeom>
        </p:spPr>
        <p:txBody>
          <a:bodyPr anchor="t" rtlCol="false" tIns="0" lIns="0" bIns="0" rIns="0">
            <a:spAutoFit/>
          </a:bodyPr>
          <a:lstStyle/>
          <a:p>
            <a:pPr algn="ctr">
              <a:lnSpc>
                <a:spcPts val="4199"/>
              </a:lnSpc>
            </a:pPr>
            <a:r>
              <a:rPr lang="en-US" sz="2999">
                <a:solidFill>
                  <a:srgbClr val="022033"/>
                </a:solidFill>
                <a:latin typeface="Tenor Sans"/>
                <a:ea typeface="Tenor Sans"/>
                <a:cs typeface="Tenor Sans"/>
                <a:sym typeface="Tenor Sans"/>
              </a:rPr>
              <a:t>Cada nodo interno</a:t>
            </a:r>
          </a:p>
          <a:p>
            <a:pPr algn="ctr">
              <a:lnSpc>
                <a:spcPts val="3919"/>
              </a:lnSpc>
            </a:pPr>
            <a:r>
              <a:rPr lang="en-US" sz="2799">
                <a:solidFill>
                  <a:srgbClr val="022033"/>
                </a:solidFill>
                <a:latin typeface="Tenor Sans"/>
                <a:ea typeface="Tenor Sans"/>
                <a:cs typeface="Tenor Sans"/>
                <a:sym typeface="Tenor Sans"/>
              </a:rPr>
              <a:t>R</a:t>
            </a:r>
            <a:r>
              <a:rPr lang="en-US" sz="2799">
                <a:solidFill>
                  <a:srgbClr val="022033"/>
                </a:solidFill>
                <a:latin typeface="Tenor Sans"/>
                <a:ea typeface="Tenor Sans"/>
                <a:cs typeface="Tenor Sans"/>
                <a:sym typeface="Tenor Sans"/>
              </a:rPr>
              <a:t>esultado de comparar sus dos hijos (el menor si se ordena ascendente).</a:t>
            </a:r>
          </a:p>
        </p:txBody>
      </p:sp>
      <p:sp>
        <p:nvSpPr>
          <p:cNvPr name="TextBox 18" id="18"/>
          <p:cNvSpPr txBox="true"/>
          <p:nvPr/>
        </p:nvSpPr>
        <p:spPr>
          <a:xfrm rot="0">
            <a:off x="11300599" y="7219352"/>
            <a:ext cx="5814595" cy="1083310"/>
          </a:xfrm>
          <a:prstGeom prst="rect">
            <a:avLst/>
          </a:prstGeom>
        </p:spPr>
        <p:txBody>
          <a:bodyPr anchor="t" rtlCol="false" tIns="0" lIns="0" bIns="0" rIns="0">
            <a:spAutoFit/>
          </a:bodyPr>
          <a:lstStyle/>
          <a:p>
            <a:pPr algn="ctr">
              <a:lnSpc>
                <a:spcPts val="4479"/>
              </a:lnSpc>
            </a:pPr>
            <a:r>
              <a:rPr lang="en-US" sz="3199">
                <a:solidFill>
                  <a:srgbClr val="022033"/>
                </a:solidFill>
                <a:latin typeface="Tenor Sans"/>
                <a:ea typeface="Tenor Sans"/>
                <a:cs typeface="Tenor Sans"/>
                <a:sym typeface="Tenor Sans"/>
              </a:rPr>
              <a:t>Raíz</a:t>
            </a:r>
          </a:p>
          <a:p>
            <a:pPr algn="ctr">
              <a:lnSpc>
                <a:spcPts val="4199"/>
              </a:lnSpc>
            </a:pPr>
            <a:r>
              <a:rPr lang="en-US" sz="2999">
                <a:solidFill>
                  <a:srgbClr val="022033"/>
                </a:solidFill>
                <a:latin typeface="Tenor Sans"/>
                <a:ea typeface="Tenor Sans"/>
                <a:cs typeface="Tenor Sans"/>
                <a:sym typeface="Tenor Sans"/>
              </a:rPr>
              <a:t>E</a:t>
            </a:r>
            <a:r>
              <a:rPr lang="en-US" sz="2999">
                <a:solidFill>
                  <a:srgbClr val="022033"/>
                </a:solidFill>
                <a:latin typeface="Tenor Sans"/>
                <a:ea typeface="Tenor Sans"/>
                <a:cs typeface="Tenor Sans"/>
                <a:sym typeface="Tenor Sans"/>
              </a:rPr>
              <a:t>lemento mínimo actual.</a:t>
            </a:r>
          </a:p>
        </p:txBody>
      </p:sp>
      <p:sp>
        <p:nvSpPr>
          <p:cNvPr name="TextBox 19" id="19"/>
          <p:cNvSpPr txBox="true"/>
          <p:nvPr/>
        </p:nvSpPr>
        <p:spPr>
          <a:xfrm rot="0">
            <a:off x="2749128" y="6750087"/>
            <a:ext cx="4993185" cy="1986280"/>
          </a:xfrm>
          <a:prstGeom prst="rect">
            <a:avLst/>
          </a:prstGeom>
        </p:spPr>
        <p:txBody>
          <a:bodyPr anchor="t" rtlCol="false" tIns="0" lIns="0" bIns="0" rIns="0">
            <a:spAutoFit/>
          </a:bodyPr>
          <a:lstStyle/>
          <a:p>
            <a:pPr algn="ctr">
              <a:lnSpc>
                <a:spcPts val="3919"/>
              </a:lnSpc>
            </a:pPr>
            <a:r>
              <a:rPr lang="en-US" sz="2799">
                <a:solidFill>
                  <a:srgbClr val="FFFFFF"/>
                </a:solidFill>
                <a:latin typeface="Tenor Sans"/>
                <a:ea typeface="Tenor Sans"/>
                <a:cs typeface="Tenor Sans"/>
                <a:sym typeface="Tenor Sans"/>
              </a:rPr>
              <a:t>Operaciones princip</a:t>
            </a:r>
            <a:r>
              <a:rPr lang="en-US" sz="2799">
                <a:solidFill>
                  <a:srgbClr val="FFFFFF"/>
                </a:solidFill>
                <a:latin typeface="Tenor Sans"/>
                <a:ea typeface="Tenor Sans"/>
                <a:cs typeface="Tenor Sans"/>
                <a:sym typeface="Tenor Sans"/>
              </a:rPr>
              <a:t>ales construir el árbol (fase inicial) y extraer/actualizar ganadores repetidamente.</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11560" y="1041505"/>
            <a:ext cx="14864881" cy="1451010"/>
          </a:xfrm>
          <a:prstGeom prst="rect">
            <a:avLst/>
          </a:prstGeom>
        </p:spPr>
        <p:txBody>
          <a:bodyPr anchor="t" rtlCol="false" tIns="0" lIns="0" bIns="0" rIns="0">
            <a:spAutoFit/>
          </a:bodyPr>
          <a:lstStyle/>
          <a:p>
            <a:pPr algn="ctr">
              <a:lnSpc>
                <a:spcPts val="10679"/>
              </a:lnSpc>
            </a:pPr>
            <a:r>
              <a:rPr lang="en-US" sz="11608">
                <a:solidFill>
                  <a:srgbClr val="022033"/>
                </a:solidFill>
                <a:latin typeface="Glacial Indifference"/>
                <a:ea typeface="Glacial Indifference"/>
                <a:cs typeface="Glacial Indifference"/>
                <a:sym typeface="Glacial Indifference"/>
              </a:rPr>
              <a:t>EJEMPLO</a:t>
            </a:r>
          </a:p>
        </p:txBody>
      </p:sp>
      <p:sp>
        <p:nvSpPr>
          <p:cNvPr name="TextBox 3" id="3"/>
          <p:cNvSpPr txBox="true"/>
          <p:nvPr/>
        </p:nvSpPr>
        <p:spPr>
          <a:xfrm rot="0">
            <a:off x="2122784" y="2350185"/>
            <a:ext cx="5578817" cy="474345"/>
          </a:xfrm>
          <a:prstGeom prst="rect">
            <a:avLst/>
          </a:prstGeom>
        </p:spPr>
        <p:txBody>
          <a:bodyPr anchor="t" rtlCol="false" tIns="0" lIns="0" bIns="0" rIns="0">
            <a:spAutoFit/>
          </a:bodyPr>
          <a:lstStyle/>
          <a:p>
            <a:pPr algn="ctr">
              <a:lnSpc>
                <a:spcPts val="3780"/>
              </a:lnSpc>
              <a:spcBef>
                <a:spcPct val="0"/>
              </a:spcBef>
            </a:pPr>
            <a:r>
              <a:rPr lang="en-US" sz="2700" spc="151">
                <a:solidFill>
                  <a:srgbClr val="022033"/>
                </a:solidFill>
                <a:latin typeface="Tenor Sans"/>
                <a:ea typeface="Tenor Sans"/>
                <a:cs typeface="Tenor Sans"/>
                <a:sym typeface="Tenor Sans"/>
              </a:rPr>
              <a:t>INTRODUCCIÓN</a:t>
            </a:r>
          </a:p>
        </p:txBody>
      </p:sp>
      <p:grpSp>
        <p:nvGrpSpPr>
          <p:cNvPr name="Group 4" id="4"/>
          <p:cNvGrpSpPr/>
          <p:nvPr/>
        </p:nvGrpSpPr>
        <p:grpSpPr>
          <a:xfrm rot="0">
            <a:off x="1677468" y="3045326"/>
            <a:ext cx="6730589" cy="1979189"/>
            <a:chOff x="0" y="0"/>
            <a:chExt cx="8974118" cy="2638919"/>
          </a:xfrm>
        </p:grpSpPr>
        <p:grpSp>
          <p:nvGrpSpPr>
            <p:cNvPr name="Group 5" id="5"/>
            <p:cNvGrpSpPr/>
            <p:nvPr/>
          </p:nvGrpSpPr>
          <p:grpSpPr>
            <a:xfrm rot="0">
              <a:off x="0" y="0"/>
              <a:ext cx="8974118" cy="2638919"/>
              <a:chOff x="0" y="0"/>
              <a:chExt cx="1375781" cy="404560"/>
            </a:xfrm>
          </p:grpSpPr>
          <p:sp>
            <p:nvSpPr>
              <p:cNvPr name="Freeform 6" id="6"/>
              <p:cNvSpPr/>
              <p:nvPr/>
            </p:nvSpPr>
            <p:spPr>
              <a:xfrm flipH="false" flipV="false" rot="0">
                <a:off x="0" y="0"/>
                <a:ext cx="1375781" cy="404560"/>
              </a:xfrm>
              <a:custGeom>
                <a:avLst/>
                <a:gdLst/>
                <a:ahLst/>
                <a:cxnLst/>
                <a:rect r="r" b="b" t="t" l="l"/>
                <a:pathLst>
                  <a:path h="404560" w="1375781">
                    <a:moveTo>
                      <a:pt x="51873" y="0"/>
                    </a:moveTo>
                    <a:lnTo>
                      <a:pt x="1323908" y="0"/>
                    </a:lnTo>
                    <a:cubicBezTo>
                      <a:pt x="1337665" y="0"/>
                      <a:pt x="1350859" y="5465"/>
                      <a:pt x="1360587" y="15193"/>
                    </a:cubicBezTo>
                    <a:cubicBezTo>
                      <a:pt x="1370315" y="24921"/>
                      <a:pt x="1375781" y="38115"/>
                      <a:pt x="1375781" y="51873"/>
                    </a:cubicBezTo>
                    <a:lnTo>
                      <a:pt x="1375781" y="352687"/>
                    </a:lnTo>
                    <a:cubicBezTo>
                      <a:pt x="1375781" y="381336"/>
                      <a:pt x="1352556" y="404560"/>
                      <a:pt x="1323908" y="404560"/>
                    </a:cubicBezTo>
                    <a:lnTo>
                      <a:pt x="51873" y="404560"/>
                    </a:lnTo>
                    <a:cubicBezTo>
                      <a:pt x="23224" y="404560"/>
                      <a:pt x="0" y="381336"/>
                      <a:pt x="0" y="352687"/>
                    </a:cubicBezTo>
                    <a:lnTo>
                      <a:pt x="0" y="51873"/>
                    </a:lnTo>
                    <a:cubicBezTo>
                      <a:pt x="0" y="23224"/>
                      <a:pt x="23224" y="0"/>
                      <a:pt x="51873" y="0"/>
                    </a:cubicBezTo>
                    <a:close/>
                  </a:path>
                </a:pathLst>
              </a:custGeom>
              <a:solidFill>
                <a:srgbClr val="96B5D3"/>
              </a:solidFill>
            </p:spPr>
          </p:sp>
          <p:sp>
            <p:nvSpPr>
              <p:cNvPr name="TextBox 7" id="7"/>
              <p:cNvSpPr txBox="true"/>
              <p:nvPr/>
            </p:nvSpPr>
            <p:spPr>
              <a:xfrm>
                <a:off x="0" y="-38100"/>
                <a:ext cx="1375781" cy="44266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409972" y="56003"/>
              <a:ext cx="8154175" cy="2479287"/>
            </a:xfrm>
            <a:prstGeom prst="rect">
              <a:avLst/>
            </a:prstGeom>
          </p:spPr>
          <p:txBody>
            <a:bodyPr anchor="t" rtlCol="false" tIns="0" lIns="0" bIns="0" rIns="0">
              <a:spAutoFit/>
            </a:bodyPr>
            <a:lstStyle/>
            <a:p>
              <a:pPr algn="ctr">
                <a:lnSpc>
                  <a:spcPts val="2972"/>
                </a:lnSpc>
              </a:pPr>
              <a:r>
                <a:rPr lang="en-US" sz="2122" spc="118">
                  <a:solidFill>
                    <a:srgbClr val="022033"/>
                  </a:solidFill>
                  <a:latin typeface="Tenor Sans"/>
                  <a:ea typeface="Tenor Sans"/>
                  <a:cs typeface="Tenor Sans"/>
                  <a:sym typeface="Tenor Sans"/>
                </a:rPr>
                <a:t>Lista a ordenar: [12, 5, 9, 2, 18, 7, 11, 4]</a:t>
              </a:r>
            </a:p>
            <a:p>
              <a:pPr algn="ctr">
                <a:lnSpc>
                  <a:spcPts val="2972"/>
                </a:lnSpc>
              </a:pPr>
              <a:r>
                <a:rPr lang="en-US" sz="2122" spc="118">
                  <a:solidFill>
                    <a:srgbClr val="022033"/>
                  </a:solidFill>
                  <a:latin typeface="Tenor Sans"/>
                  <a:ea typeface="Tenor Sans"/>
                  <a:cs typeface="Tenor Sans"/>
                  <a:sym typeface="Tenor Sans"/>
                </a:rPr>
                <a:t>Tipo de torneo: orden ascendente </a:t>
              </a:r>
            </a:p>
            <a:p>
              <a:pPr algn="ctr">
                <a:lnSpc>
                  <a:spcPts val="2972"/>
                </a:lnSpc>
              </a:pPr>
              <a:r>
                <a:rPr lang="en-US" sz="2122" spc="118">
                  <a:solidFill>
                    <a:srgbClr val="022033"/>
                  </a:solidFill>
                  <a:latin typeface="Tenor Sans"/>
                  <a:ea typeface="Tenor Sans"/>
                  <a:cs typeface="Tenor Sans"/>
                  <a:sym typeface="Tenor Sans"/>
                </a:rPr>
                <a:t>(gana el menor).</a:t>
              </a:r>
            </a:p>
            <a:p>
              <a:pPr algn="ctr">
                <a:lnSpc>
                  <a:spcPts val="2972"/>
                </a:lnSpc>
                <a:spcBef>
                  <a:spcPct val="0"/>
                </a:spcBef>
              </a:pPr>
              <a:r>
                <a:rPr lang="en-US" sz="2122" spc="118">
                  <a:solidFill>
                    <a:srgbClr val="022033"/>
                  </a:solidFill>
                  <a:latin typeface="Tenor Sans"/>
                  <a:ea typeface="Tenor Sans"/>
                  <a:cs typeface="Tenor Sans"/>
                  <a:sym typeface="Tenor Sans"/>
                </a:rPr>
                <a:t>Resultado esperado: [2, 4, 5, 7, 9, 11, 12, Objetivo: ordenar ascendentemente.18].</a:t>
              </a:r>
            </a:p>
          </p:txBody>
        </p:sp>
      </p:grpSp>
      <p:grpSp>
        <p:nvGrpSpPr>
          <p:cNvPr name="Group 9" id="9"/>
          <p:cNvGrpSpPr/>
          <p:nvPr/>
        </p:nvGrpSpPr>
        <p:grpSpPr>
          <a:xfrm rot="0">
            <a:off x="1677468" y="6277870"/>
            <a:ext cx="6730589" cy="3254884"/>
            <a:chOff x="0" y="0"/>
            <a:chExt cx="8974118" cy="4339846"/>
          </a:xfrm>
        </p:grpSpPr>
        <p:grpSp>
          <p:nvGrpSpPr>
            <p:cNvPr name="Group 10" id="10"/>
            <p:cNvGrpSpPr/>
            <p:nvPr/>
          </p:nvGrpSpPr>
          <p:grpSpPr>
            <a:xfrm rot="0">
              <a:off x="0" y="0"/>
              <a:ext cx="8974118" cy="4339846"/>
              <a:chOff x="0" y="0"/>
              <a:chExt cx="1375781" cy="665322"/>
            </a:xfrm>
          </p:grpSpPr>
          <p:sp>
            <p:nvSpPr>
              <p:cNvPr name="Freeform 11" id="11"/>
              <p:cNvSpPr/>
              <p:nvPr/>
            </p:nvSpPr>
            <p:spPr>
              <a:xfrm flipH="false" flipV="false" rot="0">
                <a:off x="0" y="0"/>
                <a:ext cx="1375781" cy="665322"/>
              </a:xfrm>
              <a:custGeom>
                <a:avLst/>
                <a:gdLst/>
                <a:ahLst/>
                <a:cxnLst/>
                <a:rect r="r" b="b" t="t" l="l"/>
                <a:pathLst>
                  <a:path h="665322" w="1375781">
                    <a:moveTo>
                      <a:pt x="51873" y="0"/>
                    </a:moveTo>
                    <a:lnTo>
                      <a:pt x="1323908" y="0"/>
                    </a:lnTo>
                    <a:cubicBezTo>
                      <a:pt x="1337665" y="0"/>
                      <a:pt x="1350859" y="5465"/>
                      <a:pt x="1360587" y="15193"/>
                    </a:cubicBezTo>
                    <a:cubicBezTo>
                      <a:pt x="1370315" y="24921"/>
                      <a:pt x="1375781" y="38115"/>
                      <a:pt x="1375781" y="51873"/>
                    </a:cubicBezTo>
                    <a:lnTo>
                      <a:pt x="1375781" y="613449"/>
                    </a:lnTo>
                    <a:cubicBezTo>
                      <a:pt x="1375781" y="642097"/>
                      <a:pt x="1352556" y="665322"/>
                      <a:pt x="1323908" y="665322"/>
                    </a:cubicBezTo>
                    <a:lnTo>
                      <a:pt x="51873" y="665322"/>
                    </a:lnTo>
                    <a:cubicBezTo>
                      <a:pt x="23224" y="665322"/>
                      <a:pt x="0" y="642097"/>
                      <a:pt x="0" y="613449"/>
                    </a:cubicBezTo>
                    <a:lnTo>
                      <a:pt x="0" y="51873"/>
                    </a:lnTo>
                    <a:cubicBezTo>
                      <a:pt x="0" y="23224"/>
                      <a:pt x="23224" y="0"/>
                      <a:pt x="51873" y="0"/>
                    </a:cubicBezTo>
                    <a:close/>
                  </a:path>
                </a:pathLst>
              </a:custGeom>
              <a:solidFill>
                <a:srgbClr val="568AB9"/>
              </a:solidFill>
            </p:spPr>
          </p:sp>
          <p:sp>
            <p:nvSpPr>
              <p:cNvPr name="TextBox 12" id="12"/>
              <p:cNvSpPr txBox="true"/>
              <p:nvPr/>
            </p:nvSpPr>
            <p:spPr>
              <a:xfrm>
                <a:off x="0" y="-38100"/>
                <a:ext cx="1375781" cy="703422"/>
              </a:xfrm>
              <a:prstGeom prst="rect">
                <a:avLst/>
              </a:prstGeom>
            </p:spPr>
            <p:txBody>
              <a:bodyPr anchor="ctr" rtlCol="false" tIns="50800" lIns="50800" bIns="50800" rIns="50800"/>
              <a:lstStyle/>
              <a:p>
                <a:pPr algn="ctr">
                  <a:lnSpc>
                    <a:spcPts val="2660"/>
                  </a:lnSpc>
                  <a:spcBef>
                    <a:spcPct val="0"/>
                  </a:spcBef>
                </a:pPr>
              </a:p>
            </p:txBody>
          </p:sp>
        </p:grpSp>
        <p:sp>
          <p:nvSpPr>
            <p:cNvPr name="TextBox 13" id="13"/>
            <p:cNvSpPr txBox="true"/>
            <p:nvPr/>
          </p:nvSpPr>
          <p:spPr>
            <a:xfrm rot="0">
              <a:off x="445171" y="63295"/>
              <a:ext cx="8083777" cy="4139547"/>
            </a:xfrm>
            <a:prstGeom prst="rect">
              <a:avLst/>
            </a:prstGeom>
          </p:spPr>
          <p:txBody>
            <a:bodyPr anchor="t" rtlCol="false" tIns="0" lIns="0" bIns="0" rIns="0">
              <a:spAutoFit/>
            </a:bodyPr>
            <a:lstStyle/>
            <a:p>
              <a:pPr algn="ctr">
                <a:lnSpc>
                  <a:spcPts val="2470"/>
                </a:lnSpc>
              </a:pPr>
              <a:r>
                <a:rPr lang="en-US" sz="1764" spc="98">
                  <a:solidFill>
                    <a:srgbClr val="022033"/>
                  </a:solidFill>
                  <a:latin typeface="Tenor Sans"/>
                  <a:ea typeface="Tenor Sans"/>
                  <a:cs typeface="Tenor Sans"/>
                  <a:sym typeface="Tenor Sans"/>
                </a:rPr>
                <a:t>Comparamos ganadores de la primera ronda:</a:t>
              </a:r>
            </a:p>
            <a:p>
              <a:pPr algn="ctr">
                <a:lnSpc>
                  <a:spcPts val="2470"/>
                </a:lnSpc>
              </a:pPr>
              <a:r>
                <a:rPr lang="en-US" sz="1764" spc="98">
                  <a:solidFill>
                    <a:srgbClr val="022033"/>
                  </a:solidFill>
                  <a:latin typeface="Tenor Sans"/>
                  <a:ea typeface="Tenor Sans"/>
                  <a:cs typeface="Tenor Sans"/>
                  <a:sym typeface="Tenor Sans"/>
                </a:rPr>
                <a:t>(5 vs 2) → 2</a:t>
              </a:r>
            </a:p>
            <a:p>
              <a:pPr algn="ctr">
                <a:lnSpc>
                  <a:spcPts val="2470"/>
                </a:lnSpc>
              </a:pPr>
              <a:r>
                <a:rPr lang="en-US" sz="1764" spc="98">
                  <a:solidFill>
                    <a:srgbClr val="022033"/>
                  </a:solidFill>
                  <a:latin typeface="Tenor Sans"/>
                  <a:ea typeface="Tenor Sans"/>
                  <a:cs typeface="Tenor Sans"/>
                  <a:sym typeface="Tenor Sans"/>
                </a:rPr>
                <a:t>(7 vs 4) → 4</a:t>
              </a:r>
            </a:p>
            <a:p>
              <a:pPr algn="ctr">
                <a:lnSpc>
                  <a:spcPts val="2470"/>
                </a:lnSpc>
              </a:pPr>
              <a:r>
                <a:rPr lang="en-US" sz="1764" spc="98">
                  <a:solidFill>
                    <a:srgbClr val="022033"/>
                  </a:solidFill>
                  <a:latin typeface="Tenor Sans"/>
                  <a:ea typeface="Tenor Sans"/>
                  <a:cs typeface="Tenor Sans"/>
                  <a:sym typeface="Tenor Sans"/>
                </a:rPr>
                <a:t>Ganadores → [2, 4]</a:t>
              </a:r>
            </a:p>
            <a:p>
              <a:pPr algn="ctr">
                <a:lnSpc>
                  <a:spcPts val="2470"/>
                </a:lnSpc>
              </a:pPr>
              <a:r>
                <a:rPr lang="en-US" sz="1764" spc="98">
                  <a:solidFill>
                    <a:srgbClr val="022033"/>
                  </a:solidFill>
                  <a:latin typeface="Tenor Sans"/>
                  <a:ea typeface="Tenor Sans"/>
                  <a:cs typeface="Tenor Sans"/>
                  <a:sym typeface="Tenor Sans"/>
                </a:rPr>
                <a:t>Árbol parcial:</a:t>
              </a:r>
            </a:p>
            <a:p>
              <a:pPr algn="ctr">
                <a:lnSpc>
                  <a:spcPts val="2470"/>
                </a:lnSpc>
              </a:pPr>
              <a:r>
                <a:rPr lang="en-US" sz="1764" spc="98">
                  <a:solidFill>
                    <a:srgbClr val="022033"/>
                  </a:solidFill>
                  <a:latin typeface="Tenor Sans"/>
                  <a:ea typeface="Tenor Sans"/>
                  <a:cs typeface="Tenor Sans"/>
                  <a:sym typeface="Tenor Sans"/>
                </a:rPr>
                <a:t> [2]      [4]</a:t>
              </a:r>
            </a:p>
            <a:p>
              <a:pPr algn="ctr">
                <a:lnSpc>
                  <a:spcPts val="2470"/>
                </a:lnSpc>
              </a:pPr>
              <a:r>
                <a:rPr lang="en-US" sz="1764" spc="98">
                  <a:solidFill>
                    <a:srgbClr val="022033"/>
                  </a:solidFill>
                  <a:latin typeface="Tenor Sans"/>
                  <a:ea typeface="Tenor Sans"/>
                  <a:cs typeface="Tenor Sans"/>
                  <a:sym typeface="Tenor Sans"/>
                </a:rPr>
                <a:t> /  \    /  \</a:t>
              </a:r>
            </a:p>
            <a:p>
              <a:pPr algn="ctr">
                <a:lnSpc>
                  <a:spcPts val="2470"/>
                </a:lnSpc>
              </a:pPr>
              <a:r>
                <a:rPr lang="en-US" sz="1764" spc="98">
                  <a:solidFill>
                    <a:srgbClr val="022033"/>
                  </a:solidFill>
                  <a:latin typeface="Tenor Sans"/>
                  <a:ea typeface="Tenor Sans"/>
                  <a:cs typeface="Tenor Sans"/>
                  <a:sym typeface="Tenor Sans"/>
                </a:rPr>
                <a:t> [5] [2] [7] [4]</a:t>
              </a:r>
            </a:p>
            <a:p>
              <a:pPr algn="ctr">
                <a:lnSpc>
                  <a:spcPts val="2470"/>
                </a:lnSpc>
              </a:pPr>
              <a:r>
                <a:rPr lang="en-US" sz="1764" spc="98">
                  <a:solidFill>
                    <a:srgbClr val="022033"/>
                  </a:solidFill>
                  <a:latin typeface="Tenor Sans"/>
                  <a:ea typeface="Tenor Sans"/>
                  <a:cs typeface="Tenor Sans"/>
                  <a:sym typeface="Tenor Sans"/>
                </a:rPr>
                <a:t> / \ / \ / \ / \</a:t>
              </a:r>
            </a:p>
            <a:p>
              <a:pPr algn="ctr">
                <a:lnSpc>
                  <a:spcPts val="2470"/>
                </a:lnSpc>
                <a:spcBef>
                  <a:spcPct val="0"/>
                </a:spcBef>
              </a:pPr>
              <a:r>
                <a:rPr lang="en-US" sz="1764" spc="98">
                  <a:solidFill>
                    <a:srgbClr val="022033"/>
                  </a:solidFill>
                  <a:latin typeface="Tenor Sans"/>
                  <a:ea typeface="Tenor Sans"/>
                  <a:cs typeface="Tenor Sans"/>
                  <a:sym typeface="Tenor Sans"/>
                </a:rPr>
                <a:t> 12 5 9 2 18 7 11 4</a:t>
              </a:r>
            </a:p>
          </p:txBody>
        </p:sp>
      </p:grpSp>
      <p:grpSp>
        <p:nvGrpSpPr>
          <p:cNvPr name="Group 14" id="14"/>
          <p:cNvGrpSpPr/>
          <p:nvPr/>
        </p:nvGrpSpPr>
        <p:grpSpPr>
          <a:xfrm rot="0">
            <a:off x="10558235" y="3045326"/>
            <a:ext cx="6812744" cy="2726765"/>
            <a:chOff x="0" y="0"/>
            <a:chExt cx="9083658" cy="3635687"/>
          </a:xfrm>
        </p:grpSpPr>
        <p:grpSp>
          <p:nvGrpSpPr>
            <p:cNvPr name="Group 15" id="15"/>
            <p:cNvGrpSpPr/>
            <p:nvPr/>
          </p:nvGrpSpPr>
          <p:grpSpPr>
            <a:xfrm rot="0">
              <a:off x="0" y="0"/>
              <a:ext cx="9083658" cy="3635687"/>
              <a:chOff x="0" y="0"/>
              <a:chExt cx="1375781" cy="550649"/>
            </a:xfrm>
          </p:grpSpPr>
          <p:sp>
            <p:nvSpPr>
              <p:cNvPr name="Freeform 16" id="16"/>
              <p:cNvSpPr/>
              <p:nvPr/>
            </p:nvSpPr>
            <p:spPr>
              <a:xfrm flipH="false" flipV="false" rot="0">
                <a:off x="0" y="0"/>
                <a:ext cx="1375781" cy="550649"/>
              </a:xfrm>
              <a:custGeom>
                <a:avLst/>
                <a:gdLst/>
                <a:ahLst/>
                <a:cxnLst/>
                <a:rect r="r" b="b" t="t" l="l"/>
                <a:pathLst>
                  <a:path h="550649" w="1375781">
                    <a:moveTo>
                      <a:pt x="51873" y="0"/>
                    </a:moveTo>
                    <a:lnTo>
                      <a:pt x="1323908" y="0"/>
                    </a:lnTo>
                    <a:cubicBezTo>
                      <a:pt x="1337665" y="0"/>
                      <a:pt x="1350859" y="5465"/>
                      <a:pt x="1360587" y="15193"/>
                    </a:cubicBezTo>
                    <a:cubicBezTo>
                      <a:pt x="1370315" y="24921"/>
                      <a:pt x="1375781" y="38115"/>
                      <a:pt x="1375781" y="51873"/>
                    </a:cubicBezTo>
                    <a:lnTo>
                      <a:pt x="1375781" y="498776"/>
                    </a:lnTo>
                    <a:cubicBezTo>
                      <a:pt x="1375781" y="527425"/>
                      <a:pt x="1352556" y="550649"/>
                      <a:pt x="1323908" y="550649"/>
                    </a:cubicBezTo>
                    <a:lnTo>
                      <a:pt x="51873" y="550649"/>
                    </a:lnTo>
                    <a:cubicBezTo>
                      <a:pt x="23224" y="550649"/>
                      <a:pt x="0" y="527425"/>
                      <a:pt x="0" y="498776"/>
                    </a:cubicBezTo>
                    <a:lnTo>
                      <a:pt x="0" y="51873"/>
                    </a:lnTo>
                    <a:cubicBezTo>
                      <a:pt x="0" y="23224"/>
                      <a:pt x="23224" y="0"/>
                      <a:pt x="51873" y="0"/>
                    </a:cubicBezTo>
                    <a:close/>
                  </a:path>
                </a:pathLst>
              </a:custGeom>
              <a:solidFill>
                <a:srgbClr val="BFD1E1"/>
              </a:solidFill>
            </p:spPr>
          </p:sp>
          <p:sp>
            <p:nvSpPr>
              <p:cNvPr name="TextBox 17" id="17"/>
              <p:cNvSpPr txBox="true"/>
              <p:nvPr/>
            </p:nvSpPr>
            <p:spPr>
              <a:xfrm>
                <a:off x="0" y="-38100"/>
                <a:ext cx="1375781" cy="588749"/>
              </a:xfrm>
              <a:prstGeom prst="rect">
                <a:avLst/>
              </a:prstGeom>
            </p:spPr>
            <p:txBody>
              <a:bodyPr anchor="ctr" rtlCol="false" tIns="50800" lIns="50800" bIns="50800" rIns="50800"/>
              <a:lstStyle/>
              <a:p>
                <a:pPr algn="ctr">
                  <a:lnSpc>
                    <a:spcPts val="2660"/>
                  </a:lnSpc>
                  <a:spcBef>
                    <a:spcPct val="0"/>
                  </a:spcBef>
                </a:pPr>
              </a:p>
            </p:txBody>
          </p:sp>
        </p:grpSp>
        <p:sp>
          <p:nvSpPr>
            <p:cNvPr name="TextBox 18" id="18"/>
            <p:cNvSpPr txBox="true"/>
            <p:nvPr/>
          </p:nvSpPr>
          <p:spPr>
            <a:xfrm rot="0">
              <a:off x="339283" y="-47625"/>
              <a:ext cx="8405092" cy="3655039"/>
            </a:xfrm>
            <a:prstGeom prst="rect">
              <a:avLst/>
            </a:prstGeom>
          </p:spPr>
          <p:txBody>
            <a:bodyPr anchor="t" rtlCol="false" tIns="0" lIns="0" bIns="0" rIns="0">
              <a:spAutoFit/>
            </a:bodyPr>
            <a:lstStyle/>
            <a:p>
              <a:pPr algn="ctr">
                <a:lnSpc>
                  <a:spcPts val="2762"/>
                </a:lnSpc>
              </a:pPr>
              <a:r>
                <a:rPr lang="en-US" sz="1973" spc="110">
                  <a:solidFill>
                    <a:srgbClr val="022033"/>
                  </a:solidFill>
                  <a:latin typeface="Tenor Sans"/>
                  <a:ea typeface="Tenor Sans"/>
                  <a:cs typeface="Tenor Sans"/>
                  <a:sym typeface="Tenor Sans"/>
                </a:rPr>
                <a:t>Comparamos elementos por pares:</a:t>
              </a:r>
            </a:p>
            <a:p>
              <a:pPr algn="ctr">
                <a:lnSpc>
                  <a:spcPts val="2762"/>
                </a:lnSpc>
              </a:pPr>
              <a:r>
                <a:rPr lang="en-US" sz="1973" spc="110">
                  <a:solidFill>
                    <a:srgbClr val="022033"/>
                  </a:solidFill>
                  <a:latin typeface="Tenor Sans"/>
                  <a:ea typeface="Tenor Sans"/>
                  <a:cs typeface="Tenor Sans"/>
                  <a:sym typeface="Tenor Sans"/>
                </a:rPr>
                <a:t>(12 vs 5) → 5 | (18 vs 7) → 7</a:t>
              </a:r>
            </a:p>
            <a:p>
              <a:pPr algn="ctr">
                <a:lnSpc>
                  <a:spcPts val="2762"/>
                </a:lnSpc>
              </a:pPr>
              <a:r>
                <a:rPr lang="en-US" sz="1973" spc="110">
                  <a:solidFill>
                    <a:srgbClr val="022033"/>
                  </a:solidFill>
                  <a:latin typeface="Tenor Sans"/>
                  <a:ea typeface="Tenor Sans"/>
                  <a:cs typeface="Tenor Sans"/>
                  <a:sym typeface="Tenor Sans"/>
                </a:rPr>
                <a:t>(9 vs 2)  → 2 | (11 vs 4) → 4</a:t>
              </a:r>
            </a:p>
            <a:p>
              <a:pPr algn="ctr">
                <a:lnSpc>
                  <a:spcPts val="2762"/>
                </a:lnSpc>
              </a:pPr>
              <a:r>
                <a:rPr lang="en-US" sz="1973" spc="110">
                  <a:solidFill>
                    <a:srgbClr val="022033"/>
                  </a:solidFill>
                  <a:latin typeface="Tenor Sans"/>
                  <a:ea typeface="Tenor Sans"/>
                  <a:cs typeface="Tenor Sans"/>
                  <a:sym typeface="Tenor Sans"/>
                </a:rPr>
                <a:t>Ganadores → [5, 2, 7, 4]</a:t>
              </a:r>
            </a:p>
            <a:p>
              <a:pPr algn="ctr">
                <a:lnSpc>
                  <a:spcPts val="2762"/>
                </a:lnSpc>
              </a:pPr>
              <a:r>
                <a:rPr lang="en-US" sz="1973" spc="110">
                  <a:solidFill>
                    <a:srgbClr val="022033"/>
                  </a:solidFill>
                  <a:latin typeface="Tenor Sans"/>
                  <a:ea typeface="Tenor Sans"/>
                  <a:cs typeface="Tenor Sans"/>
                  <a:sym typeface="Tenor Sans"/>
                </a:rPr>
                <a:t>Árbol parcial:</a:t>
              </a:r>
            </a:p>
            <a:p>
              <a:pPr algn="ctr">
                <a:lnSpc>
                  <a:spcPts val="2762"/>
                </a:lnSpc>
              </a:pPr>
              <a:r>
                <a:rPr lang="en-US" sz="1973" spc="110">
                  <a:solidFill>
                    <a:srgbClr val="022033"/>
                  </a:solidFill>
                  <a:latin typeface="Tenor Sans"/>
                  <a:ea typeface="Tenor Sans"/>
                  <a:cs typeface="Tenor Sans"/>
                  <a:sym typeface="Tenor Sans"/>
                </a:rPr>
                <a:t>    [5]  [2]   [7]  [4]</a:t>
              </a:r>
            </a:p>
            <a:p>
              <a:pPr algn="ctr">
                <a:lnSpc>
                  <a:spcPts val="2762"/>
                </a:lnSpc>
              </a:pPr>
              <a:r>
                <a:rPr lang="en-US" sz="1973" spc="110">
                  <a:solidFill>
                    <a:srgbClr val="022033"/>
                  </a:solidFill>
                  <a:latin typeface="Tenor Sans"/>
                  <a:ea typeface="Tenor Sans"/>
                  <a:cs typeface="Tenor Sans"/>
                  <a:sym typeface="Tenor Sans"/>
                </a:rPr>
                <a:t>    / \  / \  / \  / \</a:t>
              </a:r>
            </a:p>
            <a:p>
              <a:pPr algn="ctr">
                <a:lnSpc>
                  <a:spcPts val="2762"/>
                </a:lnSpc>
                <a:spcBef>
                  <a:spcPct val="0"/>
                </a:spcBef>
              </a:pPr>
              <a:r>
                <a:rPr lang="en-US" sz="1973" spc="110">
                  <a:solidFill>
                    <a:srgbClr val="022033"/>
                  </a:solidFill>
                  <a:latin typeface="Tenor Sans"/>
                  <a:ea typeface="Tenor Sans"/>
                  <a:cs typeface="Tenor Sans"/>
                  <a:sym typeface="Tenor Sans"/>
                </a:rPr>
                <a:t>    12 5 9 2  18 7 11 4</a:t>
              </a:r>
            </a:p>
          </p:txBody>
        </p:sp>
      </p:grpSp>
      <p:grpSp>
        <p:nvGrpSpPr>
          <p:cNvPr name="Group 19" id="19"/>
          <p:cNvGrpSpPr/>
          <p:nvPr/>
        </p:nvGrpSpPr>
        <p:grpSpPr>
          <a:xfrm rot="0">
            <a:off x="10558235" y="6179761"/>
            <a:ext cx="6812744" cy="3631776"/>
            <a:chOff x="0" y="0"/>
            <a:chExt cx="9083658" cy="4842368"/>
          </a:xfrm>
        </p:grpSpPr>
        <p:grpSp>
          <p:nvGrpSpPr>
            <p:cNvPr name="Group 20" id="20"/>
            <p:cNvGrpSpPr/>
            <p:nvPr/>
          </p:nvGrpSpPr>
          <p:grpSpPr>
            <a:xfrm rot="0">
              <a:off x="0" y="0"/>
              <a:ext cx="9083658" cy="4842368"/>
              <a:chOff x="0" y="0"/>
              <a:chExt cx="1375781" cy="733409"/>
            </a:xfrm>
          </p:grpSpPr>
          <p:sp>
            <p:nvSpPr>
              <p:cNvPr name="Freeform 21" id="21"/>
              <p:cNvSpPr/>
              <p:nvPr/>
            </p:nvSpPr>
            <p:spPr>
              <a:xfrm flipH="false" flipV="false" rot="0">
                <a:off x="0" y="0"/>
                <a:ext cx="1375781" cy="733409"/>
              </a:xfrm>
              <a:custGeom>
                <a:avLst/>
                <a:gdLst/>
                <a:ahLst/>
                <a:cxnLst/>
                <a:rect r="r" b="b" t="t" l="l"/>
                <a:pathLst>
                  <a:path h="733409" w="1375781">
                    <a:moveTo>
                      <a:pt x="51873" y="0"/>
                    </a:moveTo>
                    <a:lnTo>
                      <a:pt x="1323908" y="0"/>
                    </a:lnTo>
                    <a:cubicBezTo>
                      <a:pt x="1337665" y="0"/>
                      <a:pt x="1350859" y="5465"/>
                      <a:pt x="1360587" y="15193"/>
                    </a:cubicBezTo>
                    <a:cubicBezTo>
                      <a:pt x="1370315" y="24921"/>
                      <a:pt x="1375781" y="38115"/>
                      <a:pt x="1375781" y="51873"/>
                    </a:cubicBezTo>
                    <a:lnTo>
                      <a:pt x="1375781" y="681536"/>
                    </a:lnTo>
                    <a:cubicBezTo>
                      <a:pt x="1375781" y="710185"/>
                      <a:pt x="1352556" y="733409"/>
                      <a:pt x="1323908" y="733409"/>
                    </a:cubicBezTo>
                    <a:lnTo>
                      <a:pt x="51873" y="733409"/>
                    </a:lnTo>
                    <a:cubicBezTo>
                      <a:pt x="23224" y="733409"/>
                      <a:pt x="0" y="710185"/>
                      <a:pt x="0" y="681536"/>
                    </a:cubicBezTo>
                    <a:lnTo>
                      <a:pt x="0" y="51873"/>
                    </a:lnTo>
                    <a:cubicBezTo>
                      <a:pt x="0" y="23224"/>
                      <a:pt x="23224" y="0"/>
                      <a:pt x="51873" y="0"/>
                    </a:cubicBezTo>
                    <a:close/>
                  </a:path>
                </a:pathLst>
              </a:custGeom>
              <a:solidFill>
                <a:srgbClr val="F3E780"/>
              </a:solidFill>
            </p:spPr>
          </p:sp>
          <p:sp>
            <p:nvSpPr>
              <p:cNvPr name="TextBox 22" id="22"/>
              <p:cNvSpPr txBox="true"/>
              <p:nvPr/>
            </p:nvSpPr>
            <p:spPr>
              <a:xfrm>
                <a:off x="0" y="-38100"/>
                <a:ext cx="1375781" cy="771509"/>
              </a:xfrm>
              <a:prstGeom prst="rect">
                <a:avLst/>
              </a:prstGeom>
            </p:spPr>
            <p:txBody>
              <a:bodyPr anchor="ctr" rtlCol="false" tIns="50800" lIns="50800" bIns="50800" rIns="50800"/>
              <a:lstStyle/>
              <a:p>
                <a:pPr algn="ctr">
                  <a:lnSpc>
                    <a:spcPts val="2660"/>
                  </a:lnSpc>
                  <a:spcBef>
                    <a:spcPct val="0"/>
                  </a:spcBef>
                </a:pPr>
              </a:p>
            </p:txBody>
          </p:sp>
        </p:grpSp>
        <p:sp>
          <p:nvSpPr>
            <p:cNvPr name="TextBox 23" id="23"/>
            <p:cNvSpPr txBox="true"/>
            <p:nvPr/>
          </p:nvSpPr>
          <p:spPr>
            <a:xfrm rot="0">
              <a:off x="722499" y="35907"/>
              <a:ext cx="8021876" cy="4722929"/>
            </a:xfrm>
            <a:prstGeom prst="rect">
              <a:avLst/>
            </a:prstGeom>
          </p:spPr>
          <p:txBody>
            <a:bodyPr anchor="t" rtlCol="false" tIns="0" lIns="0" bIns="0" rIns="0">
              <a:spAutoFit/>
            </a:bodyPr>
            <a:lstStyle/>
            <a:p>
              <a:pPr algn="ctr">
                <a:lnSpc>
                  <a:spcPts val="2556"/>
                </a:lnSpc>
              </a:pPr>
              <a:r>
                <a:rPr lang="en-US" sz="1825" spc="102">
                  <a:solidFill>
                    <a:srgbClr val="022033"/>
                  </a:solidFill>
                  <a:latin typeface="Tenor Sans"/>
                  <a:ea typeface="Tenor Sans"/>
                  <a:cs typeface="Tenor Sans"/>
                  <a:sym typeface="Tenor Sans"/>
                </a:rPr>
                <a:t>Comparamos los dos finalistas:</a:t>
              </a:r>
            </a:p>
            <a:p>
              <a:pPr algn="ctr">
                <a:lnSpc>
                  <a:spcPts val="2556"/>
                </a:lnSpc>
              </a:pPr>
              <a:r>
                <a:rPr lang="en-US" sz="1825" spc="102">
                  <a:solidFill>
                    <a:srgbClr val="022033"/>
                  </a:solidFill>
                  <a:latin typeface="Tenor Sans"/>
                  <a:ea typeface="Tenor Sans"/>
                  <a:cs typeface="Tenor Sans"/>
                  <a:sym typeface="Tenor Sans"/>
                </a:rPr>
                <a:t>(2 vs 4) → 2</a:t>
              </a:r>
            </a:p>
            <a:p>
              <a:pPr algn="ctr">
                <a:lnSpc>
                  <a:spcPts val="2556"/>
                </a:lnSpc>
              </a:pPr>
              <a:r>
                <a:rPr lang="en-US" sz="1825" spc="102">
                  <a:solidFill>
                    <a:srgbClr val="022033"/>
                  </a:solidFill>
                  <a:latin typeface="Tenor Sans"/>
                  <a:ea typeface="Tenor Sans"/>
                  <a:cs typeface="Tenor Sans"/>
                  <a:sym typeface="Tenor Sans"/>
                </a:rPr>
                <a:t>Ganador total = 2</a:t>
              </a:r>
            </a:p>
            <a:p>
              <a:pPr algn="ctr">
                <a:lnSpc>
                  <a:spcPts val="2556"/>
                </a:lnSpc>
              </a:pPr>
              <a:r>
                <a:rPr lang="en-US" sz="1825" spc="102">
                  <a:solidFill>
                    <a:srgbClr val="022033"/>
                  </a:solidFill>
                  <a:latin typeface="Tenor Sans"/>
                  <a:ea typeface="Tenor Sans"/>
                  <a:cs typeface="Tenor Sans"/>
                  <a:sym typeface="Tenor Sans"/>
                </a:rPr>
                <a:t>Árbol completo:</a:t>
              </a:r>
            </a:p>
            <a:p>
              <a:pPr algn="ctr">
                <a:lnSpc>
                  <a:spcPts val="2556"/>
                </a:lnSpc>
              </a:pPr>
              <a:r>
                <a:rPr lang="en-US" sz="1825" spc="102">
                  <a:solidFill>
                    <a:srgbClr val="022033"/>
                  </a:solidFill>
                  <a:latin typeface="Tenor Sans"/>
                  <a:ea typeface="Tenor Sans"/>
                  <a:cs typeface="Tenor Sans"/>
                  <a:sym typeface="Tenor Sans"/>
                </a:rPr>
                <a:t>            [2]   ← raíz</a:t>
              </a:r>
            </a:p>
            <a:p>
              <a:pPr algn="ctr">
                <a:lnSpc>
                  <a:spcPts val="2556"/>
                </a:lnSpc>
              </a:pPr>
              <a:r>
                <a:rPr lang="en-US" sz="1825" spc="102">
                  <a:solidFill>
                    <a:srgbClr val="022033"/>
                  </a:solidFill>
                  <a:latin typeface="Tenor Sans"/>
                  <a:ea typeface="Tenor Sans"/>
                  <a:cs typeface="Tenor Sans"/>
                  <a:sym typeface="Tenor Sans"/>
                </a:rPr>
                <a:t> /    \</a:t>
              </a:r>
            </a:p>
            <a:p>
              <a:pPr algn="ctr">
                <a:lnSpc>
                  <a:spcPts val="2556"/>
                </a:lnSpc>
              </a:pPr>
              <a:r>
                <a:rPr lang="en-US" sz="1825" spc="102">
                  <a:solidFill>
                    <a:srgbClr val="022033"/>
                  </a:solidFill>
                  <a:latin typeface="Tenor Sans"/>
                  <a:ea typeface="Tenor Sans"/>
                  <a:cs typeface="Tenor Sans"/>
                  <a:sym typeface="Tenor Sans"/>
                </a:rPr>
                <a:t>  [2]     [4]</a:t>
              </a:r>
            </a:p>
            <a:p>
              <a:pPr algn="ctr">
                <a:lnSpc>
                  <a:spcPts val="2556"/>
                </a:lnSpc>
              </a:pPr>
              <a:r>
                <a:rPr lang="en-US" sz="1825" spc="102">
                  <a:solidFill>
                    <a:srgbClr val="022033"/>
                  </a:solidFill>
                  <a:latin typeface="Tenor Sans"/>
                  <a:ea typeface="Tenor Sans"/>
                  <a:cs typeface="Tenor Sans"/>
                  <a:sym typeface="Tenor Sans"/>
                </a:rPr>
                <a:t>  /  \    /  \</a:t>
              </a:r>
            </a:p>
            <a:p>
              <a:pPr algn="ctr">
                <a:lnSpc>
                  <a:spcPts val="2556"/>
                </a:lnSpc>
              </a:pPr>
              <a:r>
                <a:rPr lang="en-US" sz="1825" spc="102">
                  <a:solidFill>
                    <a:srgbClr val="022033"/>
                  </a:solidFill>
                  <a:latin typeface="Tenor Sans"/>
                  <a:ea typeface="Tenor Sans"/>
                  <a:cs typeface="Tenor Sans"/>
                  <a:sym typeface="Tenor Sans"/>
                </a:rPr>
                <a:t> [5] [2] [7] [4]</a:t>
              </a:r>
            </a:p>
            <a:p>
              <a:pPr algn="ctr">
                <a:lnSpc>
                  <a:spcPts val="2556"/>
                </a:lnSpc>
              </a:pPr>
              <a:r>
                <a:rPr lang="en-US" sz="1825" spc="102">
                  <a:solidFill>
                    <a:srgbClr val="022033"/>
                  </a:solidFill>
                  <a:latin typeface="Tenor Sans"/>
                  <a:ea typeface="Tenor Sans"/>
                  <a:cs typeface="Tenor Sans"/>
                  <a:sym typeface="Tenor Sans"/>
                </a:rPr>
                <a:t> / \ / \ / \ / \</a:t>
              </a:r>
            </a:p>
            <a:p>
              <a:pPr algn="ctr">
                <a:lnSpc>
                  <a:spcPts val="2556"/>
                </a:lnSpc>
                <a:spcBef>
                  <a:spcPct val="0"/>
                </a:spcBef>
              </a:pPr>
              <a:r>
                <a:rPr lang="en-US" sz="1825" spc="102">
                  <a:solidFill>
                    <a:srgbClr val="022033"/>
                  </a:solidFill>
                  <a:latin typeface="Tenor Sans"/>
                  <a:ea typeface="Tenor Sans"/>
                  <a:cs typeface="Tenor Sans"/>
                  <a:sym typeface="Tenor Sans"/>
                </a:rPr>
                <a:t> 12 5 9 2 18 7 11 4</a:t>
              </a:r>
            </a:p>
          </p:txBody>
        </p:sp>
      </p:grpSp>
      <p:sp>
        <p:nvSpPr>
          <p:cNvPr name="TextBox 24" id="24"/>
          <p:cNvSpPr txBox="true"/>
          <p:nvPr/>
        </p:nvSpPr>
        <p:spPr>
          <a:xfrm rot="0">
            <a:off x="1265892" y="5607308"/>
            <a:ext cx="7553740" cy="670562"/>
          </a:xfrm>
          <a:prstGeom prst="rect">
            <a:avLst/>
          </a:prstGeom>
        </p:spPr>
        <p:txBody>
          <a:bodyPr anchor="t" rtlCol="false" tIns="0" lIns="0" bIns="0" rIns="0">
            <a:spAutoFit/>
          </a:bodyPr>
          <a:lstStyle/>
          <a:p>
            <a:pPr algn="ctr">
              <a:lnSpc>
                <a:spcPts val="3780"/>
              </a:lnSpc>
            </a:pPr>
            <a:r>
              <a:rPr lang="en-US" sz="2700" spc="151">
                <a:solidFill>
                  <a:srgbClr val="022033"/>
                </a:solidFill>
                <a:latin typeface="Tenor Sans"/>
                <a:ea typeface="Tenor Sans"/>
                <a:cs typeface="Tenor Sans"/>
                <a:sym typeface="Tenor Sans"/>
              </a:rPr>
              <a:t>SEGUNDA RONDA </a:t>
            </a:r>
          </a:p>
          <a:p>
            <a:pPr algn="ctr">
              <a:lnSpc>
                <a:spcPts val="750"/>
              </a:lnSpc>
            </a:pPr>
            <a:r>
              <a:rPr lang="en-US" sz="1500" spc="84">
                <a:solidFill>
                  <a:srgbClr val="022033"/>
                </a:solidFill>
                <a:latin typeface="Tenor Sans"/>
                <a:ea typeface="Tenor Sans"/>
                <a:cs typeface="Tenor Sans"/>
                <a:sym typeface="Tenor Sans"/>
              </a:rPr>
              <a:t>(SEMIFINALES)</a:t>
            </a:r>
          </a:p>
        </p:txBody>
      </p:sp>
      <p:sp>
        <p:nvSpPr>
          <p:cNvPr name="TextBox 25" id="25"/>
          <p:cNvSpPr txBox="true"/>
          <p:nvPr/>
        </p:nvSpPr>
        <p:spPr>
          <a:xfrm rot="0">
            <a:off x="11352774" y="2252076"/>
            <a:ext cx="5223667" cy="670562"/>
          </a:xfrm>
          <a:prstGeom prst="rect">
            <a:avLst/>
          </a:prstGeom>
        </p:spPr>
        <p:txBody>
          <a:bodyPr anchor="t" rtlCol="false" tIns="0" lIns="0" bIns="0" rIns="0">
            <a:spAutoFit/>
          </a:bodyPr>
          <a:lstStyle/>
          <a:p>
            <a:pPr algn="ctr">
              <a:lnSpc>
                <a:spcPts val="3780"/>
              </a:lnSpc>
            </a:pPr>
            <a:r>
              <a:rPr lang="en-US" sz="2700" spc="151">
                <a:solidFill>
                  <a:srgbClr val="022033"/>
                </a:solidFill>
                <a:latin typeface="Tenor Sans"/>
                <a:ea typeface="Tenor Sans"/>
                <a:cs typeface="Tenor Sans"/>
                <a:sym typeface="Tenor Sans"/>
              </a:rPr>
              <a:t>PRIMERA RONDA</a:t>
            </a:r>
          </a:p>
          <a:p>
            <a:pPr algn="ctr">
              <a:lnSpc>
                <a:spcPts val="750"/>
              </a:lnSpc>
            </a:pPr>
            <a:r>
              <a:rPr lang="en-US" sz="1500" spc="84">
                <a:solidFill>
                  <a:srgbClr val="022033"/>
                </a:solidFill>
                <a:latin typeface="Tenor Sans"/>
                <a:ea typeface="Tenor Sans"/>
                <a:cs typeface="Tenor Sans"/>
                <a:sym typeface="Tenor Sans"/>
              </a:rPr>
              <a:t>(PARES INICIALES)</a:t>
            </a:r>
          </a:p>
        </p:txBody>
      </p:sp>
      <p:sp>
        <p:nvSpPr>
          <p:cNvPr name="TextBox 26" id="26"/>
          <p:cNvSpPr txBox="true"/>
          <p:nvPr/>
        </p:nvSpPr>
        <p:spPr>
          <a:xfrm rot="0">
            <a:off x="11963364" y="5705417"/>
            <a:ext cx="4613076" cy="474345"/>
          </a:xfrm>
          <a:prstGeom prst="rect">
            <a:avLst/>
          </a:prstGeom>
        </p:spPr>
        <p:txBody>
          <a:bodyPr anchor="t" rtlCol="false" tIns="0" lIns="0" bIns="0" rIns="0">
            <a:spAutoFit/>
          </a:bodyPr>
          <a:lstStyle/>
          <a:p>
            <a:pPr algn="ctr">
              <a:lnSpc>
                <a:spcPts val="3780"/>
              </a:lnSpc>
              <a:spcBef>
                <a:spcPct val="0"/>
              </a:spcBef>
            </a:pPr>
            <a:r>
              <a:rPr lang="en-US" sz="2700" spc="151">
                <a:solidFill>
                  <a:srgbClr val="022033"/>
                </a:solidFill>
                <a:latin typeface="Tenor Sans"/>
                <a:ea typeface="Tenor Sans"/>
                <a:cs typeface="Tenor Sans"/>
                <a:sym typeface="Tenor Sans"/>
              </a:rPr>
              <a:t>RONDA FINAL</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11560" y="1041505"/>
            <a:ext cx="14864881" cy="1451010"/>
          </a:xfrm>
          <a:prstGeom prst="rect">
            <a:avLst/>
          </a:prstGeom>
        </p:spPr>
        <p:txBody>
          <a:bodyPr anchor="t" rtlCol="false" tIns="0" lIns="0" bIns="0" rIns="0">
            <a:spAutoFit/>
          </a:bodyPr>
          <a:lstStyle/>
          <a:p>
            <a:pPr algn="ctr">
              <a:lnSpc>
                <a:spcPts val="10679"/>
              </a:lnSpc>
            </a:pPr>
            <a:r>
              <a:rPr lang="en-US" sz="11608">
                <a:solidFill>
                  <a:srgbClr val="022033"/>
                </a:solidFill>
                <a:latin typeface="Glacial Indifference"/>
                <a:ea typeface="Glacial Indifference"/>
                <a:cs typeface="Glacial Indifference"/>
                <a:sym typeface="Glacial Indifference"/>
              </a:rPr>
              <a:t>EJEMPLO</a:t>
            </a:r>
          </a:p>
        </p:txBody>
      </p:sp>
      <p:sp>
        <p:nvSpPr>
          <p:cNvPr name="TextBox 3" id="3"/>
          <p:cNvSpPr txBox="true"/>
          <p:nvPr/>
        </p:nvSpPr>
        <p:spPr>
          <a:xfrm rot="0">
            <a:off x="1773257" y="2879045"/>
            <a:ext cx="6539011" cy="474345"/>
          </a:xfrm>
          <a:prstGeom prst="rect">
            <a:avLst/>
          </a:prstGeom>
        </p:spPr>
        <p:txBody>
          <a:bodyPr anchor="t" rtlCol="false" tIns="0" lIns="0" bIns="0" rIns="0">
            <a:spAutoFit/>
          </a:bodyPr>
          <a:lstStyle/>
          <a:p>
            <a:pPr algn="ctr">
              <a:lnSpc>
                <a:spcPts val="3780"/>
              </a:lnSpc>
              <a:spcBef>
                <a:spcPct val="0"/>
              </a:spcBef>
            </a:pPr>
            <a:r>
              <a:rPr lang="en-US" sz="2700" spc="151">
                <a:solidFill>
                  <a:srgbClr val="022033"/>
                </a:solidFill>
                <a:latin typeface="Tenor Sans"/>
                <a:ea typeface="Tenor Sans"/>
                <a:cs typeface="Tenor Sans"/>
                <a:sym typeface="Tenor Sans"/>
              </a:rPr>
              <a:t>EXTRACCIÓN Y ACTUALIZACIÓN</a:t>
            </a:r>
          </a:p>
        </p:txBody>
      </p:sp>
      <p:grpSp>
        <p:nvGrpSpPr>
          <p:cNvPr name="Group 4" id="4"/>
          <p:cNvGrpSpPr/>
          <p:nvPr/>
        </p:nvGrpSpPr>
        <p:grpSpPr>
          <a:xfrm rot="0">
            <a:off x="1649862" y="3810590"/>
            <a:ext cx="6662405" cy="5304706"/>
            <a:chOff x="0" y="0"/>
            <a:chExt cx="8883207" cy="7072941"/>
          </a:xfrm>
        </p:grpSpPr>
        <p:grpSp>
          <p:nvGrpSpPr>
            <p:cNvPr name="Group 5" id="5"/>
            <p:cNvGrpSpPr/>
            <p:nvPr/>
          </p:nvGrpSpPr>
          <p:grpSpPr>
            <a:xfrm rot="0">
              <a:off x="0" y="0"/>
              <a:ext cx="8883207" cy="7072941"/>
              <a:chOff x="0" y="0"/>
              <a:chExt cx="1375781" cy="1095417"/>
            </a:xfrm>
          </p:grpSpPr>
          <p:sp>
            <p:nvSpPr>
              <p:cNvPr name="Freeform 6" id="6"/>
              <p:cNvSpPr/>
              <p:nvPr/>
            </p:nvSpPr>
            <p:spPr>
              <a:xfrm flipH="false" flipV="false" rot="0">
                <a:off x="0" y="0"/>
                <a:ext cx="1375781" cy="1095417"/>
              </a:xfrm>
              <a:custGeom>
                <a:avLst/>
                <a:gdLst/>
                <a:ahLst/>
                <a:cxnLst/>
                <a:rect r="r" b="b" t="t" l="l"/>
                <a:pathLst>
                  <a:path h="1095417" w="1375781">
                    <a:moveTo>
                      <a:pt x="51873" y="0"/>
                    </a:moveTo>
                    <a:lnTo>
                      <a:pt x="1323908" y="0"/>
                    </a:lnTo>
                    <a:cubicBezTo>
                      <a:pt x="1337665" y="0"/>
                      <a:pt x="1350859" y="5465"/>
                      <a:pt x="1360587" y="15193"/>
                    </a:cubicBezTo>
                    <a:cubicBezTo>
                      <a:pt x="1370315" y="24921"/>
                      <a:pt x="1375781" y="38115"/>
                      <a:pt x="1375781" y="51873"/>
                    </a:cubicBezTo>
                    <a:lnTo>
                      <a:pt x="1375781" y="1043544"/>
                    </a:lnTo>
                    <a:cubicBezTo>
                      <a:pt x="1375781" y="1072193"/>
                      <a:pt x="1352556" y="1095417"/>
                      <a:pt x="1323908" y="1095417"/>
                    </a:cubicBezTo>
                    <a:lnTo>
                      <a:pt x="51873" y="1095417"/>
                    </a:lnTo>
                    <a:cubicBezTo>
                      <a:pt x="23224" y="1095417"/>
                      <a:pt x="0" y="1072193"/>
                      <a:pt x="0" y="1043544"/>
                    </a:cubicBezTo>
                    <a:lnTo>
                      <a:pt x="0" y="51873"/>
                    </a:lnTo>
                    <a:cubicBezTo>
                      <a:pt x="0" y="23224"/>
                      <a:pt x="23224" y="0"/>
                      <a:pt x="51873" y="0"/>
                    </a:cubicBezTo>
                    <a:close/>
                  </a:path>
                </a:pathLst>
              </a:custGeom>
              <a:solidFill>
                <a:srgbClr val="96B5D3"/>
              </a:solidFill>
            </p:spPr>
          </p:sp>
          <p:sp>
            <p:nvSpPr>
              <p:cNvPr name="TextBox 7" id="7"/>
              <p:cNvSpPr txBox="true"/>
              <p:nvPr/>
            </p:nvSpPr>
            <p:spPr>
              <a:xfrm>
                <a:off x="0" y="-38100"/>
                <a:ext cx="1375781" cy="1133517"/>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405819" y="54954"/>
              <a:ext cx="8071569" cy="6915409"/>
            </a:xfrm>
            <a:prstGeom prst="rect">
              <a:avLst/>
            </a:prstGeom>
          </p:spPr>
          <p:txBody>
            <a:bodyPr anchor="t" rtlCol="false" tIns="0" lIns="0" bIns="0" rIns="0">
              <a:spAutoFit/>
            </a:bodyPr>
            <a:lstStyle/>
            <a:p>
              <a:pPr algn="ctr">
                <a:lnSpc>
                  <a:spcPts val="2942"/>
                </a:lnSpc>
              </a:pPr>
              <a:r>
                <a:rPr lang="en-US" sz="2101" spc="117">
                  <a:solidFill>
                    <a:srgbClr val="022033"/>
                  </a:solidFill>
                  <a:latin typeface="Tenor Sans"/>
                  <a:ea typeface="Tenor Sans"/>
                  <a:cs typeface="Tenor Sans"/>
                  <a:sym typeface="Tenor Sans"/>
                </a:rPr>
                <a:t>Extraemos la raíz 2.</a:t>
              </a:r>
            </a:p>
            <a:p>
              <a:pPr algn="ctr">
                <a:lnSpc>
                  <a:spcPts val="2942"/>
                </a:lnSpc>
              </a:pPr>
              <a:r>
                <a:rPr lang="en-US" sz="2101" spc="117">
                  <a:solidFill>
                    <a:srgbClr val="022033"/>
                  </a:solidFill>
                  <a:latin typeface="Tenor Sans"/>
                  <a:ea typeface="Tenor Sans"/>
                  <a:cs typeface="Tenor Sans"/>
                  <a:sym typeface="Tenor Sans"/>
                </a:rPr>
                <a:t>Reemplazamos su hoja con ∞ y actualizamos el torneo:</a:t>
              </a:r>
            </a:p>
            <a:p>
              <a:pPr algn="ctr">
                <a:lnSpc>
                  <a:spcPts val="2942"/>
                </a:lnSpc>
              </a:pPr>
              <a:r>
                <a:rPr lang="en-US" sz="2101" spc="117">
                  <a:solidFill>
                    <a:srgbClr val="022033"/>
                  </a:solidFill>
                  <a:latin typeface="Tenor Sans"/>
                  <a:ea typeface="Tenor Sans"/>
                  <a:cs typeface="Tenor Sans"/>
                  <a:sym typeface="Tenor Sans"/>
                </a:rPr>
                <a:t>Lista actual: [12, 5, 9, ∞, 18, 7, 11, 4]</a:t>
              </a:r>
            </a:p>
            <a:p>
              <a:pPr algn="ctr">
                <a:lnSpc>
                  <a:spcPts val="2942"/>
                </a:lnSpc>
              </a:pPr>
              <a:r>
                <a:rPr lang="en-US" sz="2101" spc="117">
                  <a:solidFill>
                    <a:srgbClr val="022033"/>
                  </a:solidFill>
                  <a:latin typeface="Tenor Sans"/>
                  <a:ea typeface="Tenor Sans"/>
                  <a:cs typeface="Tenor Sans"/>
                  <a:sym typeface="Tenor Sans"/>
                </a:rPr>
                <a:t>Nuevo árbol:</a:t>
              </a:r>
            </a:p>
            <a:p>
              <a:pPr algn="ctr">
                <a:lnSpc>
                  <a:spcPts val="2942"/>
                </a:lnSpc>
              </a:pPr>
              <a:r>
                <a:rPr lang="en-US" sz="2101" spc="117">
                  <a:solidFill>
                    <a:srgbClr val="022033"/>
                  </a:solidFill>
                  <a:latin typeface="Tenor Sans"/>
                  <a:ea typeface="Tenor Sans"/>
                  <a:cs typeface="Tenor Sans"/>
                  <a:sym typeface="Tenor Sans"/>
                </a:rPr>
                <a:t>            [4]   ← raíz</a:t>
              </a:r>
            </a:p>
            <a:p>
              <a:pPr algn="ctr">
                <a:lnSpc>
                  <a:spcPts val="2942"/>
                </a:lnSpc>
              </a:pPr>
              <a:r>
                <a:rPr lang="en-US" sz="2101" spc="117">
                  <a:solidFill>
                    <a:srgbClr val="022033"/>
                  </a:solidFill>
                  <a:latin typeface="Tenor Sans"/>
                  <a:ea typeface="Tenor Sans"/>
                  <a:cs typeface="Tenor Sans"/>
                  <a:sym typeface="Tenor Sans"/>
                </a:rPr>
                <a:t> /    \</a:t>
              </a:r>
            </a:p>
            <a:p>
              <a:pPr algn="ctr">
                <a:lnSpc>
                  <a:spcPts val="2942"/>
                </a:lnSpc>
              </a:pPr>
              <a:r>
                <a:rPr lang="en-US" sz="2101" spc="117">
                  <a:solidFill>
                    <a:srgbClr val="022033"/>
                  </a:solidFill>
                  <a:latin typeface="Tenor Sans"/>
                  <a:ea typeface="Tenor Sans"/>
                  <a:cs typeface="Tenor Sans"/>
                  <a:sym typeface="Tenor Sans"/>
                </a:rPr>
                <a:t>  [5]     [4]</a:t>
              </a:r>
            </a:p>
            <a:p>
              <a:pPr algn="ctr">
                <a:lnSpc>
                  <a:spcPts val="2942"/>
                </a:lnSpc>
              </a:pPr>
              <a:r>
                <a:rPr lang="en-US" sz="2101" spc="117">
                  <a:solidFill>
                    <a:srgbClr val="022033"/>
                  </a:solidFill>
                  <a:latin typeface="Tenor Sans"/>
                  <a:ea typeface="Tenor Sans"/>
                  <a:cs typeface="Tenor Sans"/>
                  <a:sym typeface="Tenor Sans"/>
                </a:rPr>
                <a:t>  /  \    /  \</a:t>
              </a:r>
            </a:p>
            <a:p>
              <a:pPr algn="ctr">
                <a:lnSpc>
                  <a:spcPts val="2942"/>
                </a:lnSpc>
              </a:pPr>
              <a:r>
                <a:rPr lang="en-US" sz="2101" spc="117">
                  <a:solidFill>
                    <a:srgbClr val="022033"/>
                  </a:solidFill>
                  <a:latin typeface="Tenor Sans"/>
                  <a:ea typeface="Tenor Sans"/>
                  <a:cs typeface="Tenor Sans"/>
                  <a:sym typeface="Tenor Sans"/>
                </a:rPr>
                <a:t> [5] [∞] [7] [4]</a:t>
              </a:r>
            </a:p>
            <a:p>
              <a:pPr algn="ctr">
                <a:lnSpc>
                  <a:spcPts val="2942"/>
                </a:lnSpc>
              </a:pPr>
              <a:r>
                <a:rPr lang="en-US" sz="2101" spc="117">
                  <a:solidFill>
                    <a:srgbClr val="022033"/>
                  </a:solidFill>
                  <a:latin typeface="Tenor Sans"/>
                  <a:ea typeface="Tenor Sans"/>
                  <a:cs typeface="Tenor Sans"/>
                  <a:sym typeface="Tenor Sans"/>
                </a:rPr>
                <a:t> / \ / \ / \ / \</a:t>
              </a:r>
            </a:p>
            <a:p>
              <a:pPr algn="ctr">
                <a:lnSpc>
                  <a:spcPts val="2942"/>
                </a:lnSpc>
              </a:pPr>
              <a:r>
                <a:rPr lang="en-US" sz="2101" spc="117">
                  <a:solidFill>
                    <a:srgbClr val="022033"/>
                  </a:solidFill>
                  <a:latin typeface="Tenor Sans"/>
                  <a:ea typeface="Tenor Sans"/>
                  <a:cs typeface="Tenor Sans"/>
                  <a:sym typeface="Tenor Sans"/>
                </a:rPr>
                <a:t> 12 5 9 ∞ 18 7 11 4</a:t>
              </a:r>
            </a:p>
            <a:p>
              <a:pPr algn="ctr">
                <a:lnSpc>
                  <a:spcPts val="2942"/>
                </a:lnSpc>
              </a:pPr>
              <a:r>
                <a:rPr lang="en-US" sz="2101" spc="117">
                  <a:solidFill>
                    <a:srgbClr val="022033"/>
                  </a:solidFill>
                  <a:latin typeface="Tenor Sans"/>
                  <a:ea typeface="Tenor Sans"/>
                  <a:cs typeface="Tenor Sans"/>
                  <a:sym typeface="Tenor Sans"/>
                </a:rPr>
                <a:t>Nuevo ganador → 4 ✅</a:t>
              </a:r>
            </a:p>
            <a:p>
              <a:pPr algn="ctr">
                <a:lnSpc>
                  <a:spcPts val="2942"/>
                </a:lnSpc>
                <a:spcBef>
                  <a:spcPct val="0"/>
                </a:spcBef>
              </a:pPr>
              <a:r>
                <a:rPr lang="en-US" sz="2101" spc="117">
                  <a:solidFill>
                    <a:srgbClr val="022033"/>
                  </a:solidFill>
                  <a:latin typeface="Tenor Sans"/>
                  <a:ea typeface="Tenor Sans"/>
                  <a:cs typeface="Tenor Sans"/>
                  <a:sym typeface="Tenor Sans"/>
                </a:rPr>
                <a:t>Salida parcial: [2, 4, ...]</a:t>
              </a:r>
            </a:p>
          </p:txBody>
        </p:sp>
      </p:grpSp>
      <p:grpSp>
        <p:nvGrpSpPr>
          <p:cNvPr name="Group 9" id="9"/>
          <p:cNvGrpSpPr/>
          <p:nvPr/>
        </p:nvGrpSpPr>
        <p:grpSpPr>
          <a:xfrm rot="0">
            <a:off x="9934385" y="3321093"/>
            <a:ext cx="6882844" cy="2371065"/>
            <a:chOff x="0" y="0"/>
            <a:chExt cx="9177125" cy="3161420"/>
          </a:xfrm>
        </p:grpSpPr>
        <p:grpSp>
          <p:nvGrpSpPr>
            <p:cNvPr name="Group 10" id="10"/>
            <p:cNvGrpSpPr/>
            <p:nvPr/>
          </p:nvGrpSpPr>
          <p:grpSpPr>
            <a:xfrm rot="0">
              <a:off x="0" y="0"/>
              <a:ext cx="9177125" cy="3161420"/>
              <a:chOff x="0" y="0"/>
              <a:chExt cx="1375781" cy="473941"/>
            </a:xfrm>
          </p:grpSpPr>
          <p:sp>
            <p:nvSpPr>
              <p:cNvPr name="Freeform 11" id="11"/>
              <p:cNvSpPr/>
              <p:nvPr/>
            </p:nvSpPr>
            <p:spPr>
              <a:xfrm flipH="false" flipV="false" rot="0">
                <a:off x="0" y="0"/>
                <a:ext cx="1375781" cy="473941"/>
              </a:xfrm>
              <a:custGeom>
                <a:avLst/>
                <a:gdLst/>
                <a:ahLst/>
                <a:cxnLst/>
                <a:rect r="r" b="b" t="t" l="l"/>
                <a:pathLst>
                  <a:path h="473941" w="1375781">
                    <a:moveTo>
                      <a:pt x="51873" y="0"/>
                    </a:moveTo>
                    <a:lnTo>
                      <a:pt x="1323908" y="0"/>
                    </a:lnTo>
                    <a:cubicBezTo>
                      <a:pt x="1337665" y="0"/>
                      <a:pt x="1350859" y="5465"/>
                      <a:pt x="1360587" y="15193"/>
                    </a:cubicBezTo>
                    <a:cubicBezTo>
                      <a:pt x="1370315" y="24921"/>
                      <a:pt x="1375781" y="38115"/>
                      <a:pt x="1375781" y="51873"/>
                    </a:cubicBezTo>
                    <a:lnTo>
                      <a:pt x="1375781" y="422068"/>
                    </a:lnTo>
                    <a:cubicBezTo>
                      <a:pt x="1375781" y="450717"/>
                      <a:pt x="1352556" y="473941"/>
                      <a:pt x="1323908" y="473941"/>
                    </a:cubicBezTo>
                    <a:lnTo>
                      <a:pt x="51873" y="473941"/>
                    </a:lnTo>
                    <a:cubicBezTo>
                      <a:pt x="23224" y="473941"/>
                      <a:pt x="0" y="450717"/>
                      <a:pt x="0" y="422068"/>
                    </a:cubicBezTo>
                    <a:lnTo>
                      <a:pt x="0" y="51873"/>
                    </a:lnTo>
                    <a:cubicBezTo>
                      <a:pt x="0" y="23224"/>
                      <a:pt x="23224" y="0"/>
                      <a:pt x="51873" y="0"/>
                    </a:cubicBezTo>
                    <a:close/>
                  </a:path>
                </a:pathLst>
              </a:custGeom>
              <a:solidFill>
                <a:srgbClr val="568AB9"/>
              </a:solidFill>
            </p:spPr>
          </p:sp>
          <p:sp>
            <p:nvSpPr>
              <p:cNvPr name="TextBox 12" id="12"/>
              <p:cNvSpPr txBox="true"/>
              <p:nvPr/>
            </p:nvSpPr>
            <p:spPr>
              <a:xfrm>
                <a:off x="0" y="-38100"/>
                <a:ext cx="1375781" cy="512041"/>
              </a:xfrm>
              <a:prstGeom prst="rect">
                <a:avLst/>
              </a:prstGeom>
            </p:spPr>
            <p:txBody>
              <a:bodyPr anchor="ctr" rtlCol="false" tIns="50800" lIns="50800" bIns="50800" rIns="50800"/>
              <a:lstStyle/>
              <a:p>
                <a:pPr algn="ctr">
                  <a:lnSpc>
                    <a:spcPts val="2660"/>
                  </a:lnSpc>
                  <a:spcBef>
                    <a:spcPct val="0"/>
                  </a:spcBef>
                </a:pPr>
              </a:p>
            </p:txBody>
          </p:sp>
        </p:grpSp>
        <p:sp>
          <p:nvSpPr>
            <p:cNvPr name="TextBox 13" id="13"/>
            <p:cNvSpPr txBox="true"/>
            <p:nvPr/>
          </p:nvSpPr>
          <p:spPr>
            <a:xfrm rot="0">
              <a:off x="455241" y="56064"/>
              <a:ext cx="8266643" cy="2965254"/>
            </a:xfrm>
            <a:prstGeom prst="rect">
              <a:avLst/>
            </a:prstGeom>
          </p:spPr>
          <p:txBody>
            <a:bodyPr anchor="t" rtlCol="false" tIns="0" lIns="0" bIns="0" rIns="0">
              <a:spAutoFit/>
            </a:bodyPr>
            <a:lstStyle/>
            <a:p>
              <a:pPr algn="ctr">
                <a:lnSpc>
                  <a:spcPts val="2525"/>
                </a:lnSpc>
              </a:pPr>
              <a:r>
                <a:rPr lang="en-US" sz="1804" spc="101">
                  <a:solidFill>
                    <a:srgbClr val="022033"/>
                  </a:solidFill>
                  <a:latin typeface="Tenor Sans"/>
                  <a:ea typeface="Tenor Sans"/>
                  <a:cs typeface="Tenor Sans"/>
                  <a:sym typeface="Tenor Sans"/>
                </a:rPr>
                <a:t>Continuamos el mismo proceso:</a:t>
              </a:r>
            </a:p>
            <a:p>
              <a:pPr algn="ctr">
                <a:lnSpc>
                  <a:spcPts val="2525"/>
                </a:lnSpc>
              </a:pPr>
              <a:r>
                <a:rPr lang="en-US" sz="1804" spc="101">
                  <a:solidFill>
                    <a:srgbClr val="022033"/>
                  </a:solidFill>
                  <a:latin typeface="Tenor Sans"/>
                  <a:ea typeface="Tenor Sans"/>
                  <a:cs typeface="Tenor Sans"/>
                  <a:sym typeface="Tenor Sans"/>
                </a:rPr>
                <a:t>1. Extraer la raíz (mínimo).</a:t>
              </a:r>
            </a:p>
            <a:p>
              <a:pPr algn="ctr">
                <a:lnSpc>
                  <a:spcPts val="2525"/>
                </a:lnSpc>
              </a:pPr>
              <a:r>
                <a:rPr lang="en-US" sz="1804" spc="101">
                  <a:solidFill>
                    <a:srgbClr val="022033"/>
                  </a:solidFill>
                  <a:latin typeface="Tenor Sans"/>
                  <a:ea typeface="Tenor Sans"/>
                  <a:cs typeface="Tenor Sans"/>
                  <a:sym typeface="Tenor Sans"/>
                </a:rPr>
                <a:t>2. Sustituir su hoja por ∞.</a:t>
              </a:r>
            </a:p>
            <a:p>
              <a:pPr algn="ctr">
                <a:lnSpc>
                  <a:spcPts val="2525"/>
                </a:lnSpc>
              </a:pPr>
              <a:r>
                <a:rPr lang="en-US" sz="1804" spc="101">
                  <a:solidFill>
                    <a:srgbClr val="022033"/>
                  </a:solidFill>
                  <a:latin typeface="Tenor Sans"/>
                  <a:ea typeface="Tenor Sans"/>
                  <a:cs typeface="Tenor Sans"/>
                  <a:sym typeface="Tenor Sans"/>
                </a:rPr>
                <a:t>3. Propagar los cambios hasta la raíz.</a:t>
              </a:r>
            </a:p>
            <a:p>
              <a:pPr algn="ctr">
                <a:lnSpc>
                  <a:spcPts val="2525"/>
                </a:lnSpc>
              </a:pPr>
              <a:r>
                <a:rPr lang="en-US" sz="1804" spc="101">
                  <a:solidFill>
                    <a:srgbClr val="022033"/>
                  </a:solidFill>
                  <a:latin typeface="Tenor Sans"/>
                  <a:ea typeface="Tenor Sans"/>
                  <a:cs typeface="Tenor Sans"/>
                  <a:sym typeface="Tenor Sans"/>
                </a:rPr>
                <a:t>Secuencia de ganadores:</a:t>
              </a:r>
            </a:p>
            <a:p>
              <a:pPr algn="ctr">
                <a:lnSpc>
                  <a:spcPts val="2525"/>
                </a:lnSpc>
              </a:pPr>
              <a:r>
                <a:rPr lang="en-US" sz="1804" spc="101">
                  <a:solidFill>
                    <a:srgbClr val="022033"/>
                  </a:solidFill>
                  <a:latin typeface="Tenor Sans"/>
                  <a:ea typeface="Tenor Sans"/>
                  <a:cs typeface="Tenor Sans"/>
                  <a:sym typeface="Tenor Sans"/>
                </a:rPr>
                <a:t>2 → 4 → 5 → 7 → 9 → 11 → 12 → 18</a:t>
              </a:r>
            </a:p>
            <a:p>
              <a:pPr algn="ctr">
                <a:lnSpc>
                  <a:spcPts val="2525"/>
                </a:lnSpc>
                <a:spcBef>
                  <a:spcPct val="0"/>
                </a:spcBef>
              </a:pPr>
              <a:r>
                <a:rPr lang="en-US" sz="1804" spc="101">
                  <a:solidFill>
                    <a:srgbClr val="022033"/>
                  </a:solidFill>
                  <a:latin typeface="Tenor Sans"/>
                  <a:ea typeface="Tenor Sans"/>
                  <a:cs typeface="Tenor Sans"/>
                  <a:sym typeface="Tenor Sans"/>
                </a:rPr>
                <a:t>Resultado final: [2, 4, 5, 7, 9, 11, 12, 18]</a:t>
              </a:r>
            </a:p>
          </p:txBody>
        </p:sp>
      </p:grpSp>
      <p:grpSp>
        <p:nvGrpSpPr>
          <p:cNvPr name="Group 14" id="14"/>
          <p:cNvGrpSpPr/>
          <p:nvPr/>
        </p:nvGrpSpPr>
        <p:grpSpPr>
          <a:xfrm rot="0">
            <a:off x="9770794" y="6639021"/>
            <a:ext cx="7210025" cy="2476275"/>
            <a:chOff x="0" y="0"/>
            <a:chExt cx="9613367" cy="3301699"/>
          </a:xfrm>
        </p:grpSpPr>
        <p:grpSp>
          <p:nvGrpSpPr>
            <p:cNvPr name="Group 15" id="15"/>
            <p:cNvGrpSpPr/>
            <p:nvPr/>
          </p:nvGrpSpPr>
          <p:grpSpPr>
            <a:xfrm rot="0">
              <a:off x="0" y="0"/>
              <a:ext cx="9613367" cy="3301699"/>
              <a:chOff x="0" y="0"/>
              <a:chExt cx="1375781" cy="472510"/>
            </a:xfrm>
          </p:grpSpPr>
          <p:sp>
            <p:nvSpPr>
              <p:cNvPr name="Freeform 16" id="16"/>
              <p:cNvSpPr/>
              <p:nvPr/>
            </p:nvSpPr>
            <p:spPr>
              <a:xfrm flipH="false" flipV="false" rot="0">
                <a:off x="0" y="0"/>
                <a:ext cx="1375781" cy="472510"/>
              </a:xfrm>
              <a:custGeom>
                <a:avLst/>
                <a:gdLst/>
                <a:ahLst/>
                <a:cxnLst/>
                <a:rect r="r" b="b" t="t" l="l"/>
                <a:pathLst>
                  <a:path h="472510" w="1375781">
                    <a:moveTo>
                      <a:pt x="51873" y="0"/>
                    </a:moveTo>
                    <a:lnTo>
                      <a:pt x="1323908" y="0"/>
                    </a:lnTo>
                    <a:cubicBezTo>
                      <a:pt x="1337665" y="0"/>
                      <a:pt x="1350859" y="5465"/>
                      <a:pt x="1360587" y="15193"/>
                    </a:cubicBezTo>
                    <a:cubicBezTo>
                      <a:pt x="1370315" y="24921"/>
                      <a:pt x="1375781" y="38115"/>
                      <a:pt x="1375781" y="51873"/>
                    </a:cubicBezTo>
                    <a:lnTo>
                      <a:pt x="1375781" y="420637"/>
                    </a:lnTo>
                    <a:cubicBezTo>
                      <a:pt x="1375781" y="449286"/>
                      <a:pt x="1352556" y="472510"/>
                      <a:pt x="1323908" y="472510"/>
                    </a:cubicBezTo>
                    <a:lnTo>
                      <a:pt x="51873" y="472510"/>
                    </a:lnTo>
                    <a:cubicBezTo>
                      <a:pt x="23224" y="472510"/>
                      <a:pt x="0" y="449286"/>
                      <a:pt x="0" y="420637"/>
                    </a:cubicBezTo>
                    <a:lnTo>
                      <a:pt x="0" y="51873"/>
                    </a:lnTo>
                    <a:cubicBezTo>
                      <a:pt x="0" y="23224"/>
                      <a:pt x="23224" y="0"/>
                      <a:pt x="51873" y="0"/>
                    </a:cubicBezTo>
                    <a:close/>
                  </a:path>
                </a:pathLst>
              </a:custGeom>
              <a:solidFill>
                <a:srgbClr val="F3E780"/>
              </a:solidFill>
            </p:spPr>
          </p:sp>
          <p:sp>
            <p:nvSpPr>
              <p:cNvPr name="TextBox 17" id="17"/>
              <p:cNvSpPr txBox="true"/>
              <p:nvPr/>
            </p:nvSpPr>
            <p:spPr>
              <a:xfrm>
                <a:off x="0" y="-38100"/>
                <a:ext cx="1375781" cy="510610"/>
              </a:xfrm>
              <a:prstGeom prst="rect">
                <a:avLst/>
              </a:prstGeom>
            </p:spPr>
            <p:txBody>
              <a:bodyPr anchor="ctr" rtlCol="false" tIns="50800" lIns="50800" bIns="50800" rIns="50800"/>
              <a:lstStyle/>
              <a:p>
                <a:pPr algn="ctr">
                  <a:lnSpc>
                    <a:spcPts val="2660"/>
                  </a:lnSpc>
                  <a:spcBef>
                    <a:spcPct val="0"/>
                  </a:spcBef>
                </a:pPr>
              </a:p>
            </p:txBody>
          </p:sp>
        </p:grpSp>
        <p:sp>
          <p:nvSpPr>
            <p:cNvPr name="TextBox 18" id="18"/>
            <p:cNvSpPr txBox="true"/>
            <p:nvPr/>
          </p:nvSpPr>
          <p:spPr>
            <a:xfrm rot="0">
              <a:off x="764632" y="31253"/>
              <a:ext cx="8489667" cy="3182043"/>
            </a:xfrm>
            <a:prstGeom prst="rect">
              <a:avLst/>
            </a:prstGeom>
          </p:spPr>
          <p:txBody>
            <a:bodyPr anchor="t" rtlCol="false" tIns="0" lIns="0" bIns="0" rIns="0">
              <a:spAutoFit/>
            </a:bodyPr>
            <a:lstStyle/>
            <a:p>
              <a:pPr algn="ctr">
                <a:lnSpc>
                  <a:spcPts val="2705"/>
                </a:lnSpc>
              </a:pPr>
              <a:r>
                <a:rPr lang="en-US" sz="1932" spc="108">
                  <a:solidFill>
                    <a:srgbClr val="022033"/>
                  </a:solidFill>
                  <a:latin typeface="Tenor Sans"/>
                  <a:ea typeface="Tenor Sans"/>
                  <a:cs typeface="Tenor Sans"/>
                  <a:sym typeface="Tenor Sans"/>
                </a:rPr>
                <a:t>Cada ronda reduce el número de competidores hasta quedar un solo ganador.</a:t>
              </a:r>
            </a:p>
            <a:p>
              <a:pPr algn="ctr">
                <a:lnSpc>
                  <a:spcPts val="2705"/>
                </a:lnSpc>
              </a:pPr>
            </a:p>
            <a:p>
              <a:pPr algn="ctr">
                <a:lnSpc>
                  <a:spcPts val="2705"/>
                </a:lnSpc>
              </a:pPr>
              <a:r>
                <a:rPr lang="en-US" sz="1932" spc="108">
                  <a:solidFill>
                    <a:srgbClr val="022033"/>
                  </a:solidFill>
                  <a:latin typeface="Tenor Sans"/>
                  <a:ea typeface="Tenor Sans"/>
                  <a:cs typeface="Tenor Sans"/>
                  <a:sym typeface="Tenor Sans"/>
                </a:rPr>
                <a:t>Cada extracción requiere log₂(n) comparaciones.</a:t>
              </a:r>
            </a:p>
            <a:p>
              <a:pPr algn="ctr">
                <a:lnSpc>
                  <a:spcPts val="2705"/>
                </a:lnSpc>
              </a:pPr>
            </a:p>
            <a:p>
              <a:pPr algn="ctr">
                <a:lnSpc>
                  <a:spcPts val="2705"/>
                </a:lnSpc>
                <a:spcBef>
                  <a:spcPct val="0"/>
                </a:spcBef>
              </a:pPr>
              <a:r>
                <a:rPr lang="en-US" sz="1932" spc="108">
                  <a:solidFill>
                    <a:srgbClr val="022033"/>
                  </a:solidFill>
                  <a:latin typeface="Tenor Sans"/>
                  <a:ea typeface="Tenor Sans"/>
                  <a:cs typeface="Tenor Sans"/>
                  <a:sym typeface="Tenor Sans"/>
                </a:rPr>
                <a:t>El árbol mantiene estructura balanceada, lo que asegura el rendimiento O(n log n).</a:t>
              </a:r>
            </a:p>
          </p:txBody>
        </p:sp>
      </p:grpSp>
      <p:sp>
        <p:nvSpPr>
          <p:cNvPr name="TextBox 19" id="19"/>
          <p:cNvSpPr txBox="true"/>
          <p:nvPr/>
        </p:nvSpPr>
        <p:spPr>
          <a:xfrm rot="0">
            <a:off x="10455829" y="2757855"/>
            <a:ext cx="5839956" cy="756284"/>
          </a:xfrm>
          <a:prstGeom prst="rect">
            <a:avLst/>
          </a:prstGeom>
        </p:spPr>
        <p:txBody>
          <a:bodyPr anchor="t" rtlCol="false" tIns="0" lIns="0" bIns="0" rIns="0">
            <a:spAutoFit/>
          </a:bodyPr>
          <a:lstStyle/>
          <a:p>
            <a:pPr algn="ctr">
              <a:lnSpc>
                <a:spcPts val="3780"/>
              </a:lnSpc>
            </a:pPr>
            <a:r>
              <a:rPr lang="en-US" sz="2700" spc="151">
                <a:solidFill>
                  <a:srgbClr val="022033"/>
                </a:solidFill>
                <a:latin typeface="Tenor Sans"/>
                <a:ea typeface="Tenor Sans"/>
                <a:cs typeface="Tenor Sans"/>
                <a:sym typeface="Tenor Sans"/>
              </a:rPr>
              <a:t>EXTRACCIONES SIGUIENTES </a:t>
            </a:r>
          </a:p>
          <a:p>
            <a:pPr algn="ctr">
              <a:lnSpc>
                <a:spcPts val="2100"/>
              </a:lnSpc>
            </a:pPr>
            <a:r>
              <a:rPr lang="en-US" sz="1500" spc="84">
                <a:solidFill>
                  <a:srgbClr val="022033"/>
                </a:solidFill>
                <a:latin typeface="Tenor Sans"/>
                <a:ea typeface="Tenor Sans"/>
                <a:cs typeface="Tenor Sans"/>
                <a:sym typeface="Tenor Sans"/>
              </a:rPr>
              <a:t>(RESUMEN)</a:t>
            </a:r>
          </a:p>
        </p:txBody>
      </p:sp>
      <p:sp>
        <p:nvSpPr>
          <p:cNvPr name="TextBox 20" id="20"/>
          <p:cNvSpPr txBox="true"/>
          <p:nvPr/>
        </p:nvSpPr>
        <p:spPr>
          <a:xfrm rot="0">
            <a:off x="10244170" y="5852749"/>
            <a:ext cx="6263274" cy="474345"/>
          </a:xfrm>
          <a:prstGeom prst="rect">
            <a:avLst/>
          </a:prstGeom>
        </p:spPr>
        <p:txBody>
          <a:bodyPr anchor="t" rtlCol="false" tIns="0" lIns="0" bIns="0" rIns="0">
            <a:spAutoFit/>
          </a:bodyPr>
          <a:lstStyle/>
          <a:p>
            <a:pPr algn="ctr">
              <a:lnSpc>
                <a:spcPts val="3780"/>
              </a:lnSpc>
              <a:spcBef>
                <a:spcPct val="0"/>
              </a:spcBef>
            </a:pPr>
            <a:r>
              <a:rPr lang="en-US" sz="2700" spc="151">
                <a:solidFill>
                  <a:srgbClr val="022033"/>
                </a:solidFill>
                <a:latin typeface="Tenor Sans"/>
                <a:ea typeface="Tenor Sans"/>
                <a:cs typeface="Tenor Sans"/>
                <a:sym typeface="Tenor Sans"/>
              </a:rPr>
              <a:t>OBSERVACIONES DEL EJEMPLO</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02424" y="2717835"/>
            <a:ext cx="14296336" cy="6540465"/>
          </a:xfrm>
          <a:prstGeom prst="rect">
            <a:avLst/>
          </a:prstGeom>
        </p:spPr>
        <p:txBody>
          <a:bodyPr anchor="t" rtlCol="false" tIns="0" lIns="0" bIns="0" rIns="0">
            <a:spAutoFit/>
          </a:bodyPr>
          <a:lstStyle/>
          <a:p>
            <a:pPr algn="l">
              <a:lnSpc>
                <a:spcPts val="4367"/>
              </a:lnSpc>
              <a:spcBef>
                <a:spcPct val="0"/>
              </a:spcBef>
            </a:pPr>
            <a:r>
              <a:rPr lang="en-US" sz="3119" spc="174">
                <a:solidFill>
                  <a:srgbClr val="022033"/>
                </a:solidFill>
                <a:latin typeface="Tenor Sans"/>
                <a:ea typeface="Tenor Sans"/>
                <a:cs typeface="Tenor Sans"/>
                <a:sym typeface="Tenor Sans"/>
              </a:rPr>
              <a:t>Ventajas:- Permite extracciones repetidas del mínimo con costo O(log n) por extracción.- Muy útil en mezcla k-way y en ordenamiento externo cuando los elementos vienen de múltiples fuentes.Desventajas:- Requiere estructura adicional (árbol / array de tamaño ~n), no es in-place.- Manejo de estabilidad requiere información extra (índices) para mantener el orden relativo de iguales.- Para datos en memoria, heap sort suele ser más simple y con menor overhead.</a:t>
            </a:r>
          </a:p>
        </p:txBody>
      </p:sp>
      <p:sp>
        <p:nvSpPr>
          <p:cNvPr name="TextBox 3" id="3"/>
          <p:cNvSpPr txBox="true"/>
          <p:nvPr/>
        </p:nvSpPr>
        <p:spPr>
          <a:xfrm rot="0">
            <a:off x="1711560" y="1181100"/>
            <a:ext cx="14864881" cy="1364742"/>
          </a:xfrm>
          <a:prstGeom prst="rect">
            <a:avLst/>
          </a:prstGeom>
        </p:spPr>
        <p:txBody>
          <a:bodyPr anchor="t" rtlCol="false" tIns="0" lIns="0" bIns="0" rIns="0">
            <a:spAutoFit/>
          </a:bodyPr>
          <a:lstStyle/>
          <a:p>
            <a:pPr algn="ctr">
              <a:lnSpc>
                <a:spcPts val="5244"/>
              </a:lnSpc>
            </a:pPr>
            <a:r>
              <a:rPr lang="en-US" sz="5700">
                <a:solidFill>
                  <a:srgbClr val="022033"/>
                </a:solidFill>
                <a:latin typeface="Glacial Indifference"/>
                <a:ea typeface="Glacial Indifference"/>
                <a:cs typeface="Glacial Indifference"/>
                <a:sym typeface="Glacial Indifference"/>
              </a:rPr>
              <a:t>VENTAJAS Y DESVENTAJAS FRENTE A OTROS (MISMA CATEGORÍA)</a:t>
            </a:r>
          </a:p>
        </p:txBody>
      </p:sp>
      <p:grpSp>
        <p:nvGrpSpPr>
          <p:cNvPr name="Group 4" id="4"/>
          <p:cNvGrpSpPr/>
          <p:nvPr/>
        </p:nvGrpSpPr>
        <p:grpSpPr>
          <a:xfrm rot="0">
            <a:off x="16098759" y="604794"/>
            <a:ext cx="4378481" cy="437848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p:spPr>
        </p:sp>
        <p:sp>
          <p:nvSpPr>
            <p:cNvPr name="TextBox 6" id="6"/>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6288245" y="5780212"/>
            <a:ext cx="971055" cy="934870"/>
            <a:chOff x="0" y="0"/>
            <a:chExt cx="255751" cy="246221"/>
          </a:xfrm>
        </p:grpSpPr>
        <p:sp>
          <p:nvSpPr>
            <p:cNvPr name="Freeform 8" id="8"/>
            <p:cNvSpPr/>
            <p:nvPr/>
          </p:nvSpPr>
          <p:spPr>
            <a:xfrm flipH="false" flipV="false" rot="0">
              <a:off x="0" y="0"/>
              <a:ext cx="255751" cy="246221"/>
            </a:xfrm>
            <a:custGeom>
              <a:avLst/>
              <a:gdLst/>
              <a:ahLst/>
              <a:cxnLst/>
              <a:rect r="r" b="b" t="t" l="l"/>
              <a:pathLst>
                <a:path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p:spPr>
        </p:sp>
        <p:sp>
          <p:nvSpPr>
            <p:cNvPr name="TextBox 9" id="9"/>
            <p:cNvSpPr txBox="true"/>
            <p:nvPr/>
          </p:nvSpPr>
          <p:spPr>
            <a:xfrm>
              <a:off x="0" y="-47625"/>
              <a:ext cx="255751" cy="293846"/>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49484" y="4602915"/>
            <a:ext cx="13789032" cy="4098942"/>
            <a:chOff x="0" y="0"/>
            <a:chExt cx="3631679" cy="1079557"/>
          </a:xfrm>
        </p:grpSpPr>
        <p:sp>
          <p:nvSpPr>
            <p:cNvPr name="Freeform 3" id="3"/>
            <p:cNvSpPr/>
            <p:nvPr/>
          </p:nvSpPr>
          <p:spPr>
            <a:xfrm flipH="false" flipV="false" rot="0">
              <a:off x="0" y="0"/>
              <a:ext cx="3631679" cy="1079557"/>
            </a:xfrm>
            <a:custGeom>
              <a:avLst/>
              <a:gdLst/>
              <a:ahLst/>
              <a:cxnLst/>
              <a:rect r="r" b="b" t="t" l="l"/>
              <a:pathLst>
                <a:path h="1079557" w="3631679">
                  <a:moveTo>
                    <a:pt x="19651" y="0"/>
                  </a:moveTo>
                  <a:lnTo>
                    <a:pt x="3612028" y="0"/>
                  </a:lnTo>
                  <a:cubicBezTo>
                    <a:pt x="3617240" y="0"/>
                    <a:pt x="3622238" y="2070"/>
                    <a:pt x="3625924" y="5756"/>
                  </a:cubicBezTo>
                  <a:cubicBezTo>
                    <a:pt x="3629609" y="9441"/>
                    <a:pt x="3631679" y="14439"/>
                    <a:pt x="3631679" y="19651"/>
                  </a:cubicBezTo>
                  <a:lnTo>
                    <a:pt x="3631679" y="1059906"/>
                  </a:lnTo>
                  <a:cubicBezTo>
                    <a:pt x="3631679" y="1070759"/>
                    <a:pt x="3622881" y="1079557"/>
                    <a:pt x="3612028" y="1079557"/>
                  </a:cubicBezTo>
                  <a:lnTo>
                    <a:pt x="19651" y="1079557"/>
                  </a:lnTo>
                  <a:cubicBezTo>
                    <a:pt x="8798" y="1079557"/>
                    <a:pt x="0" y="1070759"/>
                    <a:pt x="0" y="1059906"/>
                  </a:cubicBezTo>
                  <a:lnTo>
                    <a:pt x="0" y="19651"/>
                  </a:lnTo>
                  <a:cubicBezTo>
                    <a:pt x="0" y="8798"/>
                    <a:pt x="8798" y="0"/>
                    <a:pt x="19651" y="0"/>
                  </a:cubicBezTo>
                  <a:close/>
                </a:path>
              </a:pathLst>
            </a:custGeom>
            <a:solidFill>
              <a:srgbClr val="BFD1E1"/>
            </a:solidFill>
          </p:spPr>
        </p:sp>
        <p:sp>
          <p:nvSpPr>
            <p:cNvPr name="TextBox 4" id="4"/>
            <p:cNvSpPr txBox="true"/>
            <p:nvPr/>
          </p:nvSpPr>
          <p:spPr>
            <a:xfrm>
              <a:off x="0" y="-47625"/>
              <a:ext cx="3631679" cy="1127182"/>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5456869" y="1197960"/>
            <a:ext cx="7374262" cy="1628902"/>
          </a:xfrm>
          <a:prstGeom prst="rect">
            <a:avLst/>
          </a:prstGeom>
        </p:spPr>
        <p:txBody>
          <a:bodyPr anchor="t" rtlCol="false" tIns="0" lIns="0" bIns="0" rIns="0">
            <a:spAutoFit/>
          </a:bodyPr>
          <a:lstStyle/>
          <a:p>
            <a:pPr algn="ctr">
              <a:lnSpc>
                <a:spcPts val="6163"/>
              </a:lnSpc>
            </a:pPr>
            <a:r>
              <a:rPr lang="en-US" sz="6699" spc="-556">
                <a:solidFill>
                  <a:srgbClr val="022033"/>
                </a:solidFill>
                <a:latin typeface="Glacial Indifference"/>
                <a:ea typeface="Glacial Indifference"/>
                <a:cs typeface="Glacial Indifference"/>
                <a:sym typeface="Glacial Indifference"/>
              </a:rPr>
              <a:t>CARACTERÍSTICAS TÉCNICAS </a:t>
            </a:r>
          </a:p>
        </p:txBody>
      </p:sp>
      <p:sp>
        <p:nvSpPr>
          <p:cNvPr name="TextBox 6" id="6"/>
          <p:cNvSpPr txBox="true"/>
          <p:nvPr/>
        </p:nvSpPr>
        <p:spPr>
          <a:xfrm rot="0">
            <a:off x="2898884" y="4789931"/>
            <a:ext cx="12490232" cy="3658236"/>
          </a:xfrm>
          <a:prstGeom prst="rect">
            <a:avLst/>
          </a:prstGeom>
        </p:spPr>
        <p:txBody>
          <a:bodyPr anchor="t" rtlCol="false" tIns="0" lIns="0" bIns="0" rIns="0">
            <a:spAutoFit/>
          </a:bodyPr>
          <a:lstStyle/>
          <a:p>
            <a:pPr algn="ctr">
              <a:lnSpc>
                <a:spcPts val="3639"/>
              </a:lnSpc>
              <a:spcBef>
                <a:spcPct val="0"/>
              </a:spcBef>
            </a:pPr>
            <a:r>
              <a:rPr lang="en-US" sz="2599" spc="145">
                <a:solidFill>
                  <a:srgbClr val="022033"/>
                </a:solidFill>
                <a:latin typeface="Tenor Sans"/>
                <a:ea typeface="Tenor Sans"/>
                <a:cs typeface="Tenor Sans"/>
                <a:sym typeface="Tenor Sans"/>
              </a:rPr>
              <a:t>Estabilidad: No es estable por defecto. Para hacerlo estable se debe emparejar cada elemento con su índice original y comparar (valor, índice).In-place: No. Usa espacio adicional para el árbol/estructura de tamaño O(n) (o 2n según implementación).Adaptabilidad: No se beneficia significativamente de listas parcialmente ordenadas; sigue realizando O(n log n) en la práctica para orden completo.</a:t>
            </a:r>
          </a:p>
        </p:txBody>
      </p:sp>
      <p:sp>
        <p:nvSpPr>
          <p:cNvPr name="Freeform 7" id="7"/>
          <p:cNvSpPr/>
          <p:nvPr/>
        </p:nvSpPr>
        <p:spPr>
          <a:xfrm flipH="false" flipV="false" rot="0">
            <a:off x="13764581" y="150980"/>
            <a:ext cx="4372659" cy="4878220"/>
          </a:xfrm>
          <a:custGeom>
            <a:avLst/>
            <a:gdLst/>
            <a:ahLst/>
            <a:cxnLst/>
            <a:rect r="r" b="b" t="t" l="l"/>
            <a:pathLst>
              <a:path h="4878220" w="4372659">
                <a:moveTo>
                  <a:pt x="0" y="0"/>
                </a:moveTo>
                <a:lnTo>
                  <a:pt x="4372659" y="0"/>
                </a:lnTo>
                <a:lnTo>
                  <a:pt x="4372659" y="4878220"/>
                </a:lnTo>
                <a:lnTo>
                  <a:pt x="0" y="48782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5400000">
            <a:off x="252780" y="-1798578"/>
            <a:ext cx="4372659" cy="4878220"/>
          </a:xfrm>
          <a:custGeom>
            <a:avLst/>
            <a:gdLst/>
            <a:ahLst/>
            <a:cxnLst/>
            <a:rect r="r" b="b" t="t" l="l"/>
            <a:pathLst>
              <a:path h="4878220" w="4372659">
                <a:moveTo>
                  <a:pt x="0" y="0"/>
                </a:moveTo>
                <a:lnTo>
                  <a:pt x="4372660" y="0"/>
                </a:lnTo>
                <a:lnTo>
                  <a:pt x="4372660" y="4878220"/>
                </a:lnTo>
                <a:lnTo>
                  <a:pt x="0" y="48782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2470649"/>
            <a:ext cx="16230600" cy="2119583"/>
          </a:xfrm>
          <a:prstGeom prst="rect">
            <a:avLst/>
          </a:prstGeom>
        </p:spPr>
        <p:txBody>
          <a:bodyPr anchor="t" rtlCol="false" tIns="0" lIns="0" bIns="0" rIns="0">
            <a:spAutoFit/>
          </a:bodyPr>
          <a:lstStyle/>
          <a:p>
            <a:pPr algn="l">
              <a:lnSpc>
                <a:spcPts val="4192"/>
              </a:lnSpc>
            </a:pPr>
            <a:r>
              <a:rPr lang="en-US" sz="2994" spc="167">
                <a:solidFill>
                  <a:srgbClr val="022033"/>
                </a:solidFill>
                <a:latin typeface="Tenor Sans"/>
                <a:ea typeface="Tenor Sans"/>
                <a:cs typeface="Tenor Sans"/>
                <a:sym typeface="Tenor Sans"/>
              </a:rPr>
              <a:t>Complejidad espacial:- Requiere memoria adicional O(n) para el árbol (no in-place).- Si se usa sentinela o buffer externo, también puede necesitar espacio de trabajo extra para entradas de reemplazo.</a:t>
            </a:r>
          </a:p>
        </p:txBody>
      </p:sp>
      <p:sp>
        <p:nvSpPr>
          <p:cNvPr name="TextBox 3" id="3"/>
          <p:cNvSpPr txBox="true"/>
          <p:nvPr/>
        </p:nvSpPr>
        <p:spPr>
          <a:xfrm rot="0">
            <a:off x="4187349" y="808473"/>
            <a:ext cx="9913301" cy="1728851"/>
          </a:xfrm>
          <a:prstGeom prst="rect">
            <a:avLst/>
          </a:prstGeom>
        </p:spPr>
        <p:txBody>
          <a:bodyPr anchor="t" rtlCol="false" tIns="0" lIns="0" bIns="0" rIns="0">
            <a:spAutoFit/>
          </a:bodyPr>
          <a:lstStyle/>
          <a:p>
            <a:pPr algn="ctr">
              <a:lnSpc>
                <a:spcPts val="6532"/>
              </a:lnSpc>
            </a:pPr>
            <a:r>
              <a:rPr lang="en-US" sz="7100">
                <a:solidFill>
                  <a:srgbClr val="022033"/>
                </a:solidFill>
                <a:latin typeface="Glacial Indifference"/>
                <a:ea typeface="Glacial Indifference"/>
                <a:cs typeface="Glacial Indifference"/>
                <a:sym typeface="Glacial Indifference"/>
              </a:rPr>
              <a:t>EFICIENCIA DEL ALGORITMO </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487092"/>
          <a:ext cx="16230600" cy="9382125"/>
        </p:xfrm>
        <a:graphic>
          <a:graphicData uri="http://schemas.openxmlformats.org/drawingml/2006/table">
            <a:tbl>
              <a:tblPr/>
              <a:tblGrid>
                <a:gridCol w="4057650"/>
                <a:gridCol w="4057650"/>
                <a:gridCol w="4057650"/>
                <a:gridCol w="4057650"/>
              </a:tblGrid>
              <a:tr h="856865">
                <a:tc>
                  <a:txBody>
                    <a:bodyPr anchor="t" rtlCol="false"/>
                    <a:lstStyle/>
                    <a:p>
                      <a:pPr algn="ctr">
                        <a:lnSpc>
                          <a:spcPts val="2940"/>
                        </a:lnSpc>
                        <a:defRPr/>
                      </a:pPr>
                      <a:r>
                        <a:rPr lang="en-US" sz="2100">
                          <a:solidFill>
                            <a:srgbClr val="FFFFFF"/>
                          </a:solidFill>
                          <a:latin typeface="Tenor Sans"/>
                          <a:ea typeface="Tenor Sans"/>
                          <a:cs typeface="Tenor Sans"/>
                          <a:sym typeface="Tenor Sans"/>
                        </a:rPr>
                        <a:t>Características </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568AB9"/>
                    </a:solidFill>
                  </a:tcPr>
                </a:tc>
                <a:tc>
                  <a:txBody>
                    <a:bodyPr anchor="t" rtlCol="false"/>
                    <a:lstStyle/>
                    <a:p>
                      <a:pPr algn="ctr">
                        <a:lnSpc>
                          <a:spcPts val="2940"/>
                        </a:lnSpc>
                        <a:defRPr/>
                      </a:pPr>
                      <a:r>
                        <a:rPr lang="en-US" sz="2100">
                          <a:solidFill>
                            <a:srgbClr val="FFFFFF"/>
                          </a:solidFill>
                          <a:latin typeface="Tenor Sans"/>
                          <a:ea typeface="Tenor Sans"/>
                          <a:cs typeface="Tenor Sans"/>
                          <a:sym typeface="Tenor Sans"/>
                        </a:rPr>
                        <a:t>Tournament Sort</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568AB9"/>
                    </a:solidFill>
                  </a:tcPr>
                </a:tc>
                <a:tc>
                  <a:txBody>
                    <a:bodyPr anchor="t" rtlCol="false"/>
                    <a:lstStyle/>
                    <a:p>
                      <a:pPr algn="ctr">
                        <a:lnSpc>
                          <a:spcPts val="2940"/>
                        </a:lnSpc>
                        <a:defRPr/>
                      </a:pPr>
                      <a:r>
                        <a:rPr lang="en-US" sz="2100">
                          <a:solidFill>
                            <a:srgbClr val="FFFFFF"/>
                          </a:solidFill>
                          <a:latin typeface="Tenor Sans"/>
                          <a:ea typeface="Tenor Sans"/>
                          <a:cs typeface="Tenor Sans"/>
                          <a:sym typeface="Tenor Sans"/>
                        </a:rPr>
                        <a:t>Heap Sort</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568AB9"/>
                    </a:solidFill>
                  </a:tcPr>
                </a:tc>
                <a:tc>
                  <a:txBody>
                    <a:bodyPr anchor="t" rtlCol="false"/>
                    <a:lstStyle/>
                    <a:p>
                      <a:pPr algn="ctr">
                        <a:lnSpc>
                          <a:spcPts val="2940"/>
                        </a:lnSpc>
                        <a:defRPr/>
                      </a:pPr>
                      <a:r>
                        <a:rPr lang="en-US" sz="2100">
                          <a:solidFill>
                            <a:srgbClr val="FFFFFF"/>
                          </a:solidFill>
                          <a:latin typeface="Tenor Sans"/>
                          <a:ea typeface="Tenor Sans"/>
                          <a:cs typeface="Tenor Sans"/>
                          <a:sym typeface="Tenor Sans"/>
                        </a:rPr>
                        <a:t>Tree Sort</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568AB9"/>
                    </a:solidFill>
                  </a:tcPr>
                </a:tc>
              </a:tr>
              <a:tr h="1279874">
                <a:tc>
                  <a:txBody>
                    <a:bodyPr anchor="t" rtlCol="false"/>
                    <a:lstStyle/>
                    <a:p>
                      <a:pPr algn="ctr">
                        <a:lnSpc>
                          <a:spcPts val="2940"/>
                        </a:lnSpc>
                        <a:defRPr/>
                      </a:pPr>
                      <a:r>
                        <a:rPr lang="en-US" sz="2100">
                          <a:solidFill>
                            <a:srgbClr val="FFFFFF"/>
                          </a:solidFill>
                          <a:latin typeface="Tenor Sans"/>
                          <a:ea typeface="Tenor Sans"/>
                          <a:cs typeface="Tenor Sans"/>
                          <a:sym typeface="Tenor Sans"/>
                        </a:rPr>
                        <a:t>Complejidad temporal</a:t>
                      </a:r>
                      <a:endParaRPr lang="en-US" sz="1100"/>
                    </a:p>
                    <a:p>
                      <a:pPr algn="ctr">
                        <a:lnSpc>
                          <a:spcPts val="2940"/>
                        </a:lnSpc>
                      </a:pPr>
                      <a:r>
                        <a:rPr lang="en-US" sz="2100">
                          <a:solidFill>
                            <a:srgbClr val="FFFFFF"/>
                          </a:solidFill>
                          <a:latin typeface="Tenor Sans"/>
                          <a:ea typeface="Tenor Sans"/>
                          <a:cs typeface="Tenor Sans"/>
                          <a:sym typeface="Tenor Sans"/>
                        </a:rPr>
                        <a:t>Mejor Caso </a:t>
                      </a:r>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568AB9"/>
                    </a:solidFill>
                  </a:tcPr>
                </a:tc>
                <a:tc gridSpan="3">
                  <a:txBody>
                    <a:bodyPr anchor="t" rtlCol="false"/>
                    <a:lstStyle/>
                    <a:p>
                      <a:pPr algn="ctr">
                        <a:lnSpc>
                          <a:spcPts val="2940"/>
                        </a:lnSpc>
                        <a:defRPr/>
                      </a:pPr>
                      <a:r>
                        <a:rPr lang="en-US" sz="2100">
                          <a:solidFill>
                            <a:srgbClr val="000000"/>
                          </a:solidFill>
                          <a:latin typeface="Tenor Sans"/>
                          <a:ea typeface="Tenor Sans"/>
                          <a:cs typeface="Tenor Sans"/>
                          <a:sym typeface="Tenor Sans"/>
                        </a:rPr>
                        <a:t>O(n log n)</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BFD1E1"/>
                    </a:solidFill>
                  </a:tcPr>
                </a:tc>
                <a:tc hMerge="true">
                  <a:txBody>
                    <a:bodyPr anchor="t" rtlCol="false"/>
                    <a:lstStyle/>
                    <a:p>
                      <a:pPr algn="ctr">
                        <a:lnSpc>
                          <a:spcPts val="2940"/>
                        </a:lnSpc>
                        <a:defRPr/>
                      </a:pPr>
                      <a:r>
                        <a:rPr lang="en-US" sz="2100">
                          <a:solidFill>
                            <a:srgbClr val="000000"/>
                          </a:solidFill>
                          <a:latin typeface="Tenor Sans"/>
                          <a:ea typeface="Tenor Sans"/>
                          <a:cs typeface="Tenor Sans"/>
                          <a:sym typeface="Tenor Sans"/>
                        </a:rPr>
                        <a:t>O(n log n)</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BFD1E1"/>
                    </a:solidFill>
                  </a:tcPr>
                </a:tc>
                <a:tc hMerge="true">
                  <a:txBody>
                    <a:bodyPr anchor="t" rtlCol="false"/>
                    <a:lstStyle/>
                    <a:p>
                      <a:pPr algn="ctr">
                        <a:lnSpc>
                          <a:spcPts val="2940"/>
                        </a:lnSpc>
                        <a:defRPr/>
                      </a:pPr>
                      <a:r>
                        <a:rPr lang="en-US" sz="2100">
                          <a:solidFill>
                            <a:srgbClr val="000000"/>
                          </a:solidFill>
                          <a:latin typeface="Tenor Sans"/>
                          <a:ea typeface="Tenor Sans"/>
                          <a:cs typeface="Tenor Sans"/>
                          <a:sym typeface="Tenor Sans"/>
                        </a:rPr>
                        <a:t>O(n log n)</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BFD1E1"/>
                    </a:solidFill>
                  </a:tcPr>
                </a:tc>
              </a:tr>
              <a:tr h="1279874">
                <a:tc>
                  <a:txBody>
                    <a:bodyPr anchor="t" rtlCol="false"/>
                    <a:lstStyle/>
                    <a:p>
                      <a:pPr algn="ctr">
                        <a:lnSpc>
                          <a:spcPts val="2940"/>
                        </a:lnSpc>
                        <a:defRPr/>
                      </a:pPr>
                      <a:r>
                        <a:rPr lang="en-US" sz="2100">
                          <a:solidFill>
                            <a:srgbClr val="FFFFFF"/>
                          </a:solidFill>
                          <a:latin typeface="Tenor Sans"/>
                          <a:ea typeface="Tenor Sans"/>
                          <a:cs typeface="Tenor Sans"/>
                          <a:sym typeface="Tenor Sans"/>
                        </a:rPr>
                        <a:t>Complejidad Temporal</a:t>
                      </a:r>
                      <a:endParaRPr lang="en-US" sz="1100"/>
                    </a:p>
                    <a:p>
                      <a:pPr algn="ctr">
                        <a:lnSpc>
                          <a:spcPts val="2940"/>
                        </a:lnSpc>
                      </a:pPr>
                      <a:r>
                        <a:rPr lang="en-US" sz="2100">
                          <a:solidFill>
                            <a:srgbClr val="FFFFFF"/>
                          </a:solidFill>
                          <a:latin typeface="Tenor Sans"/>
                          <a:ea typeface="Tenor Sans"/>
                          <a:cs typeface="Tenor Sans"/>
                          <a:sym typeface="Tenor Sans"/>
                        </a:rPr>
                        <a:t>Promedio</a:t>
                      </a:r>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568AB9"/>
                    </a:solidFill>
                  </a:tcPr>
                </a:tc>
                <a:tc gridSpan="3">
                  <a:txBody>
                    <a:bodyPr anchor="t" rtlCol="false"/>
                    <a:lstStyle/>
                    <a:p>
                      <a:pPr algn="ctr">
                        <a:lnSpc>
                          <a:spcPts val="2940"/>
                        </a:lnSpc>
                        <a:defRPr/>
                      </a:pPr>
                      <a:r>
                        <a:rPr lang="en-US" sz="2100">
                          <a:solidFill>
                            <a:srgbClr val="000000"/>
                          </a:solidFill>
                          <a:latin typeface="Tenor Sans"/>
                          <a:ea typeface="Tenor Sans"/>
                          <a:cs typeface="Tenor Sans"/>
                          <a:sym typeface="Tenor Sans"/>
                        </a:rPr>
                        <a:t>O(n log n)</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BFD1E1"/>
                    </a:solidFill>
                  </a:tcPr>
                </a:tc>
                <a:tc hMerge="true">
                  <a:txBody>
                    <a:bodyPr anchor="t" rtlCol="false"/>
                    <a:lstStyle/>
                    <a:p>
                      <a:pPr algn="ctr">
                        <a:lnSpc>
                          <a:spcPts val="2940"/>
                        </a:lnSpc>
                        <a:defRPr/>
                      </a:pPr>
                      <a:r>
                        <a:rPr lang="en-US" sz="2100">
                          <a:solidFill>
                            <a:srgbClr val="000000"/>
                          </a:solidFill>
                          <a:latin typeface="Tenor Sans"/>
                          <a:ea typeface="Tenor Sans"/>
                          <a:cs typeface="Tenor Sans"/>
                          <a:sym typeface="Tenor Sans"/>
                        </a:rPr>
                        <a:t>O(n log n)</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BFD1E1"/>
                    </a:solidFill>
                  </a:tcPr>
                </a:tc>
                <a:tc hMerge="true">
                  <a:txBody>
                    <a:bodyPr anchor="t" rtlCol="false"/>
                    <a:lstStyle/>
                    <a:p>
                      <a:pPr algn="ctr">
                        <a:lnSpc>
                          <a:spcPts val="2940"/>
                        </a:lnSpc>
                        <a:defRPr/>
                      </a:pPr>
                      <a:r>
                        <a:rPr lang="en-US" sz="2100">
                          <a:solidFill>
                            <a:srgbClr val="000000"/>
                          </a:solidFill>
                          <a:latin typeface="Tenor Sans"/>
                          <a:ea typeface="Tenor Sans"/>
                          <a:cs typeface="Tenor Sans"/>
                          <a:sym typeface="Tenor Sans"/>
                        </a:rPr>
                        <a:t>O(n log n)</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BFD1E1"/>
                    </a:solidFill>
                  </a:tcPr>
                </a:tc>
              </a:tr>
              <a:tr h="1279874">
                <a:tc>
                  <a:txBody>
                    <a:bodyPr anchor="t" rtlCol="false"/>
                    <a:lstStyle/>
                    <a:p>
                      <a:pPr algn="ctr">
                        <a:lnSpc>
                          <a:spcPts val="2940"/>
                        </a:lnSpc>
                        <a:defRPr/>
                      </a:pPr>
                      <a:r>
                        <a:rPr lang="en-US" sz="2100">
                          <a:solidFill>
                            <a:srgbClr val="FFFFFF"/>
                          </a:solidFill>
                          <a:latin typeface="Tenor Sans"/>
                          <a:ea typeface="Tenor Sans"/>
                          <a:cs typeface="Tenor Sans"/>
                          <a:sym typeface="Tenor Sans"/>
                        </a:rPr>
                        <a:t>Complejidad Temporal</a:t>
                      </a:r>
                      <a:endParaRPr lang="en-US" sz="1100"/>
                    </a:p>
                    <a:p>
                      <a:pPr algn="ctr">
                        <a:lnSpc>
                          <a:spcPts val="2940"/>
                        </a:lnSpc>
                      </a:pPr>
                      <a:r>
                        <a:rPr lang="en-US" sz="2100">
                          <a:solidFill>
                            <a:srgbClr val="FFFFFF"/>
                          </a:solidFill>
                          <a:latin typeface="Tenor Sans"/>
                          <a:ea typeface="Tenor Sans"/>
                          <a:cs typeface="Tenor Sans"/>
                          <a:sym typeface="Tenor Sans"/>
                        </a:rPr>
                        <a:t>Peor Caso </a:t>
                      </a:r>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568AB9"/>
                    </a:solidFill>
                  </a:tcPr>
                </a:tc>
                <a:tc gridSpan="2">
                  <a:txBody>
                    <a:bodyPr anchor="t" rtlCol="false"/>
                    <a:lstStyle/>
                    <a:p>
                      <a:pPr algn="ctr">
                        <a:lnSpc>
                          <a:spcPts val="2940"/>
                        </a:lnSpc>
                        <a:defRPr/>
                      </a:pPr>
                      <a:r>
                        <a:rPr lang="en-US" sz="2100">
                          <a:solidFill>
                            <a:srgbClr val="000000"/>
                          </a:solidFill>
                          <a:latin typeface="Tenor Sans"/>
                          <a:ea typeface="Tenor Sans"/>
                          <a:cs typeface="Tenor Sans"/>
                          <a:sym typeface="Tenor Sans"/>
                        </a:rPr>
                        <a:t>O(n log n)</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BFD1E1"/>
                    </a:solidFill>
                  </a:tcPr>
                </a:tc>
                <a:tc hMerge="true">
                  <a:txBody>
                    <a:bodyPr anchor="t" rtlCol="false"/>
                    <a:lstStyle/>
                    <a:p>
                      <a:pPr algn="ctr">
                        <a:lnSpc>
                          <a:spcPts val="2940"/>
                        </a:lnSpc>
                        <a:defRPr/>
                      </a:pPr>
                      <a:r>
                        <a:rPr lang="en-US" sz="2100">
                          <a:solidFill>
                            <a:srgbClr val="000000"/>
                          </a:solidFill>
                          <a:latin typeface="Tenor Sans"/>
                          <a:ea typeface="Tenor Sans"/>
                          <a:cs typeface="Tenor Sans"/>
                          <a:sym typeface="Tenor Sans"/>
                        </a:rPr>
                        <a:t>O(n log n)</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BFD1E1"/>
                    </a:solidFill>
                  </a:tcPr>
                </a:tc>
                <a:tc>
                  <a:txBody>
                    <a:bodyPr anchor="t" rtlCol="false"/>
                    <a:lstStyle/>
                    <a:p>
                      <a:pPr algn="ctr">
                        <a:lnSpc>
                          <a:spcPts val="2940"/>
                        </a:lnSpc>
                        <a:defRPr/>
                      </a:pPr>
                      <a:r>
                        <a:rPr lang="en-US" sz="2100">
                          <a:solidFill>
                            <a:srgbClr val="000000"/>
                          </a:solidFill>
                          <a:latin typeface="Tenor Sans"/>
                          <a:ea typeface="Tenor Sans"/>
                          <a:cs typeface="Tenor Sans"/>
                          <a:sym typeface="Tenor Sans"/>
                        </a:rPr>
                        <a:t>O(n²) (si el árbol se desbalancea)</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BFD1E1"/>
                    </a:solidFill>
                  </a:tcPr>
                </a:tc>
              </a:tr>
              <a:tr h="1279874">
                <a:tc>
                  <a:txBody>
                    <a:bodyPr anchor="t" rtlCol="false"/>
                    <a:lstStyle/>
                    <a:p>
                      <a:pPr algn="ctr">
                        <a:lnSpc>
                          <a:spcPts val="2940"/>
                        </a:lnSpc>
                        <a:defRPr/>
                      </a:pPr>
                      <a:r>
                        <a:rPr lang="en-US" sz="2100">
                          <a:solidFill>
                            <a:srgbClr val="FFFFFF"/>
                          </a:solidFill>
                          <a:latin typeface="Tenor Sans"/>
                          <a:ea typeface="Tenor Sans"/>
                          <a:cs typeface="Tenor Sans"/>
                          <a:sym typeface="Tenor Sans"/>
                        </a:rPr>
                        <a:t>Estabilida </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568AB9"/>
                    </a:solidFill>
                  </a:tcPr>
                </a:tc>
                <a:tc>
                  <a:txBody>
                    <a:bodyPr anchor="t" rtlCol="false"/>
                    <a:lstStyle/>
                    <a:p>
                      <a:pPr algn="ctr">
                        <a:lnSpc>
                          <a:spcPts val="2940"/>
                        </a:lnSpc>
                        <a:defRPr/>
                      </a:pPr>
                      <a:r>
                        <a:rPr lang="en-US" sz="2100">
                          <a:solidFill>
                            <a:srgbClr val="000000"/>
                          </a:solidFill>
                          <a:latin typeface="Tenor Sans"/>
                          <a:ea typeface="Tenor Sans"/>
                          <a:cs typeface="Tenor Sans"/>
                          <a:sym typeface="Tenor Sans"/>
                        </a:rPr>
                        <a:t>No estable por defecto (puede adaptarse)</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BFD1E1"/>
                    </a:solidFill>
                  </a:tcPr>
                </a:tc>
                <a:tc>
                  <a:txBody>
                    <a:bodyPr anchor="t" rtlCol="false"/>
                    <a:lstStyle/>
                    <a:p>
                      <a:pPr algn="ctr">
                        <a:lnSpc>
                          <a:spcPts val="2940"/>
                        </a:lnSpc>
                        <a:defRPr/>
                      </a:pPr>
                      <a:r>
                        <a:rPr lang="en-US" sz="2100">
                          <a:solidFill>
                            <a:srgbClr val="000000"/>
                          </a:solidFill>
                          <a:latin typeface="Tenor Sans"/>
                          <a:ea typeface="Tenor Sans"/>
                          <a:cs typeface="Tenor Sans"/>
                          <a:sym typeface="Tenor Sans"/>
                        </a:rPr>
                        <a:t>No estable</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BFD1E1"/>
                    </a:solidFill>
                  </a:tcPr>
                </a:tc>
                <a:tc>
                  <a:txBody>
                    <a:bodyPr anchor="t" rtlCol="false"/>
                    <a:lstStyle/>
                    <a:p>
                      <a:pPr algn="ctr">
                        <a:lnSpc>
                          <a:spcPts val="2940"/>
                        </a:lnSpc>
                        <a:defRPr/>
                      </a:pPr>
                      <a:r>
                        <a:rPr lang="en-US" sz="2100">
                          <a:solidFill>
                            <a:srgbClr val="000000"/>
                          </a:solidFill>
                          <a:latin typeface="Tenor Sans"/>
                          <a:ea typeface="Tenor Sans"/>
                          <a:cs typeface="Tenor Sans"/>
                          <a:sym typeface="Tenor Sans"/>
                        </a:rPr>
                        <a:t>Puede ser estable con manejo de inserción</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BFD1E1"/>
                    </a:solidFill>
                  </a:tcPr>
                </a:tc>
              </a:tr>
              <a:tr h="1702883">
                <a:tc>
                  <a:txBody>
                    <a:bodyPr anchor="t" rtlCol="false"/>
                    <a:lstStyle/>
                    <a:p>
                      <a:pPr algn="ctr">
                        <a:lnSpc>
                          <a:spcPts val="2940"/>
                        </a:lnSpc>
                        <a:defRPr/>
                      </a:pPr>
                      <a:r>
                        <a:rPr lang="en-US" sz="2100">
                          <a:solidFill>
                            <a:srgbClr val="FFFFFF"/>
                          </a:solidFill>
                          <a:latin typeface="Tenor Sans"/>
                          <a:ea typeface="Tenor Sans"/>
                          <a:cs typeface="Tenor Sans"/>
                          <a:sym typeface="Tenor Sans"/>
                        </a:rPr>
                        <a:t>Adaptabilidad</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568AB9"/>
                    </a:solidFill>
                  </a:tcPr>
                </a:tc>
                <a:tc>
                  <a:txBody>
                    <a:bodyPr anchor="t" rtlCol="false"/>
                    <a:lstStyle/>
                    <a:p>
                      <a:pPr algn="ctr">
                        <a:lnSpc>
                          <a:spcPts val="2940"/>
                        </a:lnSpc>
                        <a:defRPr/>
                      </a:pPr>
                      <a:r>
                        <a:rPr lang="en-US" sz="2100">
                          <a:solidFill>
                            <a:srgbClr val="000000"/>
                          </a:solidFill>
                          <a:latin typeface="Tenor Sans"/>
                          <a:ea typeface="Tenor Sans"/>
                          <a:cs typeface="Tenor Sans"/>
                          <a:sym typeface="Tenor Sans"/>
                        </a:rPr>
                        <a:t>No adaptativo</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BFD1E1"/>
                    </a:solidFill>
                  </a:tcPr>
                </a:tc>
                <a:tc>
                  <a:txBody>
                    <a:bodyPr anchor="t" rtlCol="false"/>
                    <a:lstStyle/>
                    <a:p>
                      <a:pPr algn="ctr">
                        <a:lnSpc>
                          <a:spcPts val="2940"/>
                        </a:lnSpc>
                        <a:defRPr/>
                      </a:pPr>
                      <a:r>
                        <a:rPr lang="en-US" sz="2100">
                          <a:solidFill>
                            <a:srgbClr val="000000"/>
                          </a:solidFill>
                          <a:latin typeface="Tenor Sans"/>
                          <a:ea typeface="Tenor Sans"/>
                          <a:cs typeface="Tenor Sans"/>
                          <a:sym typeface="Tenor Sans"/>
                        </a:rPr>
                        <a:t>No adaptativo</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BFD1E1"/>
                    </a:solidFill>
                  </a:tcPr>
                </a:tc>
                <a:tc>
                  <a:txBody>
                    <a:bodyPr anchor="t" rtlCol="false"/>
                    <a:lstStyle/>
                    <a:p>
                      <a:pPr algn="ctr">
                        <a:lnSpc>
                          <a:spcPts val="2940"/>
                        </a:lnSpc>
                        <a:defRPr/>
                      </a:pPr>
                      <a:r>
                        <a:rPr lang="en-US" sz="2100">
                          <a:solidFill>
                            <a:srgbClr val="000000"/>
                          </a:solidFill>
                          <a:latin typeface="Tenor Sans"/>
                          <a:ea typeface="Tenor Sans"/>
                          <a:cs typeface="Tenor Sans"/>
                          <a:sym typeface="Tenor Sans"/>
                        </a:rPr>
                        <a:t>Parcialmente adaptativo (si el árbol se mantiene balanceado)</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BFD1E1"/>
                    </a:solidFill>
                  </a:tcPr>
                </a:tc>
              </a:tr>
              <a:tr h="1702883">
                <a:tc>
                  <a:txBody>
                    <a:bodyPr anchor="t" rtlCol="false"/>
                    <a:lstStyle/>
                    <a:p>
                      <a:pPr algn="ctr">
                        <a:lnSpc>
                          <a:spcPts val="2940"/>
                        </a:lnSpc>
                        <a:defRPr/>
                      </a:pPr>
                      <a:r>
                        <a:rPr lang="en-US" sz="2100">
                          <a:solidFill>
                            <a:srgbClr val="FFFFFF"/>
                          </a:solidFill>
                          <a:latin typeface="Tenor Sans"/>
                          <a:ea typeface="Tenor Sans"/>
                          <a:cs typeface="Tenor Sans"/>
                          <a:sym typeface="Tenor Sans"/>
                        </a:rPr>
                        <a:t>Casos de uso comunes</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568AB9"/>
                    </a:solidFill>
                  </a:tcPr>
                </a:tc>
                <a:tc>
                  <a:txBody>
                    <a:bodyPr anchor="t" rtlCol="false"/>
                    <a:lstStyle/>
                    <a:p>
                      <a:pPr algn="ctr">
                        <a:lnSpc>
                          <a:spcPts val="2940"/>
                        </a:lnSpc>
                        <a:defRPr/>
                      </a:pPr>
                      <a:r>
                        <a:rPr lang="en-US" sz="2100">
                          <a:solidFill>
                            <a:srgbClr val="000000"/>
                          </a:solidFill>
                          <a:latin typeface="Tenor Sans"/>
                          <a:ea typeface="Tenor Sans"/>
                          <a:cs typeface="Tenor Sans"/>
                          <a:sym typeface="Tenor Sans"/>
                        </a:rPr>
                        <a:t>Mezcla de secuencias grandes, selección continua del mínimo</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BFD1E1"/>
                    </a:solidFill>
                  </a:tcPr>
                </a:tc>
                <a:tc>
                  <a:txBody>
                    <a:bodyPr anchor="t" rtlCol="false"/>
                    <a:lstStyle/>
                    <a:p>
                      <a:pPr algn="ctr">
                        <a:lnSpc>
                          <a:spcPts val="2940"/>
                        </a:lnSpc>
                        <a:defRPr/>
                      </a:pPr>
                      <a:r>
                        <a:rPr lang="en-US" sz="2100">
                          <a:solidFill>
                            <a:srgbClr val="000000"/>
                          </a:solidFill>
                          <a:latin typeface="Tenor Sans"/>
                          <a:ea typeface="Tenor Sans"/>
                          <a:cs typeface="Tenor Sans"/>
                          <a:sym typeface="Tenor Sans"/>
                        </a:rPr>
                        <a:t>Ordenamientos generales en memoria</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BFD1E1"/>
                    </a:solidFill>
                  </a:tcPr>
                </a:tc>
                <a:tc>
                  <a:txBody>
                    <a:bodyPr anchor="t" rtlCol="false"/>
                    <a:lstStyle/>
                    <a:p>
                      <a:pPr algn="ctr">
                        <a:lnSpc>
                          <a:spcPts val="2940"/>
                        </a:lnSpc>
                        <a:defRPr/>
                      </a:pPr>
                      <a:r>
                        <a:rPr lang="en-US" sz="2100">
                          <a:solidFill>
                            <a:srgbClr val="000000"/>
                          </a:solidFill>
                          <a:latin typeface="Tenor Sans"/>
                          <a:ea typeface="Tenor Sans"/>
                          <a:cs typeface="Tenor Sans"/>
                          <a:sym typeface="Tenor Sans"/>
                        </a:rPr>
                        <a:t>Contextos con búsqueda dinámica y necesidad de orden</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BFD1E1"/>
                    </a:solidFill>
                  </a:tcPr>
                </a:tc>
              </a:tr>
            </a:tbl>
          </a:graphicData>
        </a:graphic>
      </p:graphicFrame>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2880768"/>
            <a:ext cx="16230600" cy="6377532"/>
          </a:xfrm>
          <a:prstGeom prst="rect">
            <a:avLst/>
          </a:prstGeom>
        </p:spPr>
        <p:txBody>
          <a:bodyPr anchor="t" rtlCol="false" tIns="0" lIns="0" bIns="0" rIns="0">
            <a:spAutoFit/>
          </a:bodyPr>
          <a:lstStyle/>
          <a:p>
            <a:pPr algn="l">
              <a:lnSpc>
                <a:spcPts val="4192"/>
              </a:lnSpc>
            </a:pPr>
            <a:r>
              <a:rPr lang="en-US" sz="2994" spc="167">
                <a:solidFill>
                  <a:srgbClr val="022033"/>
                </a:solidFill>
                <a:latin typeface="Tenor Sans"/>
                <a:ea typeface="Tenor Sans"/>
                <a:cs typeface="Tenor Sans"/>
                <a:sym typeface="Tenor Sans"/>
              </a:rPr>
              <a:t>Escenarios donde es eficiente:- Mezcla k-way (merge) de múltiples fuentes/streams; extracción eficiente del mínimo entre k candidatos.- Ordenamiento externo cuando los datos no caben en memoria: ideal para seleccionar el siguiente registro de múltiples buffers.- Implementaciones de selectores en sistemas que requieren merges repetidos.Ejemplos reales:- Sistemas de bases de datos que realizan merge de múltiples runs en ordenamiento externo.- Renderizado o procesamiento de eventos donde se selecciona el próximo evento mínimo entre varias colas.- Algoritmos de fusión en pipelines y procesamiento por lotes.</a:t>
            </a:r>
          </a:p>
        </p:txBody>
      </p:sp>
      <p:sp>
        <p:nvSpPr>
          <p:cNvPr name="TextBox 3" id="3"/>
          <p:cNvSpPr txBox="true"/>
          <p:nvPr/>
        </p:nvSpPr>
        <p:spPr>
          <a:xfrm rot="0">
            <a:off x="2831199" y="808473"/>
            <a:ext cx="12625602" cy="1728851"/>
          </a:xfrm>
          <a:prstGeom prst="rect">
            <a:avLst/>
          </a:prstGeom>
        </p:spPr>
        <p:txBody>
          <a:bodyPr anchor="t" rtlCol="false" tIns="0" lIns="0" bIns="0" rIns="0">
            <a:spAutoFit/>
          </a:bodyPr>
          <a:lstStyle/>
          <a:p>
            <a:pPr algn="ctr">
              <a:lnSpc>
                <a:spcPts val="6532"/>
              </a:lnSpc>
            </a:pPr>
            <a:r>
              <a:rPr lang="en-US" sz="7100">
                <a:solidFill>
                  <a:srgbClr val="022033"/>
                </a:solidFill>
                <a:latin typeface="Glacial Indifference"/>
                <a:ea typeface="Glacial Indifference"/>
                <a:cs typeface="Glacial Indifference"/>
                <a:sym typeface="Glacial Indifference"/>
              </a:rPr>
              <a:t>CASO DE USO Y APLICACIONES PRÁCTICAS </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2880768"/>
            <a:ext cx="16230600" cy="6377532"/>
          </a:xfrm>
          <a:prstGeom prst="rect">
            <a:avLst/>
          </a:prstGeom>
        </p:spPr>
        <p:txBody>
          <a:bodyPr anchor="t" rtlCol="false" tIns="0" lIns="0" bIns="0" rIns="0">
            <a:spAutoFit/>
          </a:bodyPr>
          <a:lstStyle/>
          <a:p>
            <a:pPr algn="l">
              <a:lnSpc>
                <a:spcPts val="4192"/>
              </a:lnSpc>
            </a:pPr>
            <a:r>
              <a:rPr lang="en-US" sz="2994" spc="167">
                <a:solidFill>
                  <a:srgbClr val="022033"/>
                </a:solidFill>
                <a:latin typeface="Tenor Sans"/>
                <a:ea typeface="Tenor Sans"/>
                <a:cs typeface="Tenor Sans"/>
                <a:sym typeface="Tenor Sans"/>
              </a:rPr>
              <a:t>Conclusiones:- Tournament Sort es valioso en contextos donde hay múltiples fuentes o cuando se realizan merges k-way; garantiza extracciones rápidas del mínimo.- Para ordenamiento en memoria general, Heap Sort suele ser más simple y con menor overhead de estructura.Recomendaciones:- Usar Tournament Sort para mezcla externa y selecciones entre múltiples flujos (k-way merge).- Para arrays en memoria convencionales, preferir Heap Sort o Quick Sort (según requisitos).- Si se necesita estabilidad, implementar pares (valor, índice) o usar una estructura estable.</a:t>
            </a:r>
          </a:p>
        </p:txBody>
      </p:sp>
      <p:sp>
        <p:nvSpPr>
          <p:cNvPr name="TextBox 3" id="3"/>
          <p:cNvSpPr txBox="true"/>
          <p:nvPr/>
        </p:nvSpPr>
        <p:spPr>
          <a:xfrm rot="0">
            <a:off x="2831199" y="808473"/>
            <a:ext cx="12625602" cy="1728851"/>
          </a:xfrm>
          <a:prstGeom prst="rect">
            <a:avLst/>
          </a:prstGeom>
        </p:spPr>
        <p:txBody>
          <a:bodyPr anchor="t" rtlCol="false" tIns="0" lIns="0" bIns="0" rIns="0">
            <a:spAutoFit/>
          </a:bodyPr>
          <a:lstStyle/>
          <a:p>
            <a:pPr algn="ctr">
              <a:lnSpc>
                <a:spcPts val="6532"/>
              </a:lnSpc>
            </a:pPr>
            <a:r>
              <a:rPr lang="en-US" sz="7100">
                <a:solidFill>
                  <a:srgbClr val="022033"/>
                </a:solidFill>
                <a:latin typeface="Glacial Indifference"/>
                <a:ea typeface="Glacial Indifference"/>
                <a:cs typeface="Glacial Indifference"/>
                <a:sym typeface="Glacial Indifference"/>
              </a:rPr>
              <a:t>CONCLUSIONES Y RECOMENDACIONES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930356" y="1832223"/>
            <a:ext cx="14427288" cy="4697452"/>
          </a:xfrm>
          <a:prstGeom prst="rect">
            <a:avLst/>
          </a:prstGeom>
        </p:spPr>
        <p:txBody>
          <a:bodyPr anchor="t" rtlCol="false" tIns="0" lIns="0" bIns="0" rIns="0">
            <a:spAutoFit/>
          </a:bodyPr>
          <a:lstStyle/>
          <a:p>
            <a:pPr algn="ctr">
              <a:lnSpc>
                <a:spcPts val="17842"/>
              </a:lnSpc>
            </a:pPr>
            <a:r>
              <a:rPr lang="en-US" sz="19394">
                <a:solidFill>
                  <a:srgbClr val="022033"/>
                </a:solidFill>
                <a:latin typeface="Glacial Indifference"/>
                <a:ea typeface="Glacial Indifference"/>
                <a:cs typeface="Glacial Indifference"/>
                <a:sym typeface="Glacial Indifference"/>
              </a:rPr>
              <a:t>¡MUCHAS GRACIAS!</a:t>
            </a:r>
          </a:p>
        </p:txBody>
      </p:sp>
      <p:sp>
        <p:nvSpPr>
          <p:cNvPr name="Freeform 3" id="3"/>
          <p:cNvSpPr/>
          <p:nvPr/>
        </p:nvSpPr>
        <p:spPr>
          <a:xfrm flipH="false" flipV="false" rot="-10800000">
            <a:off x="-354670" y="-390474"/>
            <a:ext cx="4009030" cy="4009030"/>
          </a:xfrm>
          <a:custGeom>
            <a:avLst/>
            <a:gdLst/>
            <a:ahLst/>
            <a:cxnLst/>
            <a:rect r="r" b="b" t="t" l="l"/>
            <a:pathLst>
              <a:path h="4009030" w="4009030">
                <a:moveTo>
                  <a:pt x="0" y="0"/>
                </a:moveTo>
                <a:lnTo>
                  <a:pt x="4009029" y="0"/>
                </a:lnTo>
                <a:lnTo>
                  <a:pt x="4009029" y="4009030"/>
                </a:lnTo>
                <a:lnTo>
                  <a:pt x="0" y="40090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5386589" y="7759322"/>
            <a:ext cx="971055" cy="934870"/>
            <a:chOff x="0" y="0"/>
            <a:chExt cx="255751" cy="246221"/>
          </a:xfrm>
        </p:grpSpPr>
        <p:sp>
          <p:nvSpPr>
            <p:cNvPr name="Freeform 5" id="5"/>
            <p:cNvSpPr/>
            <p:nvPr/>
          </p:nvSpPr>
          <p:spPr>
            <a:xfrm flipH="false" flipV="false" rot="0">
              <a:off x="0" y="0"/>
              <a:ext cx="255751" cy="246221"/>
            </a:xfrm>
            <a:custGeom>
              <a:avLst/>
              <a:gdLst/>
              <a:ahLst/>
              <a:cxnLst/>
              <a:rect r="r" b="b" t="t" l="l"/>
              <a:pathLst>
                <a:path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p:spPr>
        </p:sp>
        <p:sp>
          <p:nvSpPr>
            <p:cNvPr name="TextBox 6" id="6"/>
            <p:cNvSpPr txBox="true"/>
            <p:nvPr/>
          </p:nvSpPr>
          <p:spPr>
            <a:xfrm>
              <a:off x="0" y="-47625"/>
              <a:ext cx="255751" cy="293846"/>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10800000">
            <a:off x="187905" y="5982697"/>
            <a:ext cx="3688357" cy="4114800"/>
          </a:xfrm>
          <a:custGeom>
            <a:avLst/>
            <a:gdLst/>
            <a:ahLst/>
            <a:cxnLst/>
            <a:rect r="r" b="b" t="t" l="l"/>
            <a:pathLst>
              <a:path h="4114800" w="3688357">
                <a:moveTo>
                  <a:pt x="0" y="0"/>
                </a:moveTo>
                <a:lnTo>
                  <a:pt x="3688357" y="0"/>
                </a:lnTo>
                <a:lnTo>
                  <a:pt x="368835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DAG2Ggta7WU</dc:identifier>
  <dcterms:modified xsi:type="dcterms:W3CDTF">2011-08-01T06:04:30Z</dcterms:modified>
  <cp:revision>1</cp:revision>
  <dc:title>Presentación Proyecto Trabajo Creativa Profesional Azul</dc:title>
</cp:coreProperties>
</file>